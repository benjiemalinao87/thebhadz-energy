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go-to-market plan. One goal, one market, and the sequence that gets us to our first 5 paid installs.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Mission is the boss. 5 deposits banked by Oct 9. Not leads, not promises — money in the bank. We're at zero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Expensive power, constant brownouts, and nobody local serving them. That's the setup for a local-first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choosing whether to build our own panels — we're choosing the order. Sell first, manufacture later, funded by our own cash.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don't beat national brands on price-per-watt. We win the island on local presence, paperwork, typhoon durability, and a clear fixed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local. The nearest players add freight and slow service. First recon task: get their real quotes.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fixed packages in the ₱80–100k window. Outcome next to every price. We hold the line on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Fight the engineer bias. Direct, local, offline, referral. Max 3 tests at once, each pre-registered with a pass/fail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machine. We measure each step so we fix the real leak instead of guessing. Deposit is the only stage that counts as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instinct — get LGU to favor local — is right. We earn it by being genuinely local and solarizing public facilities lawfully. We never pay for it. That's illegal and it would blow up our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number per phase, not a date per task. Two deposits by week 8 unlocks scaling; five by week 12 is the 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Discipline is the strategy. Every one of these is a classic way pre-revenue startups die. We hold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countable commitments count. We report the business by what customers did, never by what we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named owner per deliverable — no name means it isn't being done. Assign owners live in this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off-grid battery is the margin risk. We hold a disciplined base battery and upsell storage. Our own fabrication is where guaranteed margin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test has a number written down before launch. No number, no evidence. We only scale a channel that produces paid deposits.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plan in one line. Sell now, build the moat later, on our own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640080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Biliran Go-To-Market Plan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to our first 5 paid installs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plan · REV A · 2026-07-19 · Market: Biliran province (BILECO)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points at one number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023360" y="2194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₱99,500 installs — deposits banked, not promised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23360" y="2971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09 October 2026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4892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today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47091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4892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297680" y="5669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left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4709160"/>
            <a:ext cx="3474720" cy="1554480"/>
          </a:xfrm>
          <a:prstGeom prst="roundRect">
            <a:avLst>
              <a:gd name="adj" fmla="val 5294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48920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₱400k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046720" y="5669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unlocks the factory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Biliran is an uncontested pond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₱12.95</a:t>
            </a:r>
            <a:pPr indent="0" marL="0">
              <a:buNone/>
            </a:pPr>
            <a:r>
              <a:rPr lang="en-US" sz="1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/kWh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297180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832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BILECO residential rate (2026) — higher than mainland Leyte. Expensive island power = the bill-pain.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920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</a:t>
            </a:r>
            <a:pPr indent="0" marL="0">
              <a:buNone/>
            </a:pPr>
            <a:r>
              <a:rPr lang="en-US" sz="1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brownouts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599432" y="3200400"/>
            <a:ext cx="297180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33832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 coop grid; scheduled interruptions are routine. The #1 organic demand driver.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19202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pPr indent="0" marL="0">
              <a:buNone/>
            </a:pPr>
            <a:r>
              <a:rPr lang="en-US" sz="1600" b="1" dirty="0">
                <a:solidFill>
                  <a:srgbClr val="5C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on-island installers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8375904" y="3200400"/>
            <a:ext cx="2971800" cy="0"/>
          </a:xfrm>
          <a:prstGeom prst="line">
            <a:avLst/>
          </a:prstGeom>
          <a:noFill/>
          <a:ln w="12700">
            <a:solidFill>
              <a:srgbClr val="DB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338328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is off-island — Tacloban by road, Cebu by barge. That absence is the opening.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 — in the right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— DO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install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near-term revenue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panels, inverters, batteries; sell installs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Hand-build racking, harness, power boxes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in weeks — funds everything else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first 5 installs come from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74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— GATED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our own panels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moat — later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2918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module manufacturing = the moat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until Mission met + ₱400k banked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Pre-revenue, it's premature scaling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earn the factory with Model B cash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Biliran family picks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7452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On-island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74520" y="2377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freight surcharge, no warranty delay across the strait. We're already here.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03120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52360" y="1874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BILECO-fluent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52360" y="23774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own the net-metering paperwork. National installers only know Meralco.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43400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7452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Typhoon-rated racking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74520" y="4617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typhoon-awareness market in PH (Yolanda). Our racking is the physical proof.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343400"/>
            <a:ext cx="822960" cy="822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343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₱99,500 all-in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52360" y="46177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opaque, freight-inflated quotes — with the honest 'reason why'.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real is off-island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 Energy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297680" y="1783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Tacloban — by road (~2–3 hr + bridge)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1783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real installer. Facebook-based.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2004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SolarStream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297680" y="3200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Cebu — barge / air freight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3200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Leyte/Samar; doesn't even list Biliran.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6177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Cebu / national brands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297680" y="4617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Cebu &amp; Luzon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617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+ remote warranty; compete on the web, not the island.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 the ground: get one quote each from RK Energy + SolarStream for a Naval address — their freight surcharge is our proof.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packages, one price corridor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LIWANAG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On-grid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₱99,500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BILECO bill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backup — anti-islanding (honest)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60020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16002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1223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645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ILAW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25112" y="2084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25112" y="2697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₱99,500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99432" y="3429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+ WiFi through brownouts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9432" y="4023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Battery-backed independence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160020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01584" y="1600200"/>
            <a:ext cx="3520440" cy="822960"/>
          </a:xfrm>
          <a:prstGeom prst="roundRect">
            <a:avLst>
              <a:gd name="adj" fmla="val 10000"/>
            </a:avLst>
          </a:prstGeom>
          <a:solidFill>
            <a:srgbClr val="12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1645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SANDIGAN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01584" y="20848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01584" y="26974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₱99,500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75904" y="34290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savings + storm backup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75904" y="4023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— the flagship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price carries its outcome. Front end holds the corridor price — no hardware discounts. Free calculator + free survey are the only loss-leaders.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REACH THEM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channels to test — not SEO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groups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Naval community + buy/sell groups where installers already sell. Copy the mechanics, not the claims.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488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Barangay demo day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06640" y="23774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touchable panel + inverter + battery rig at an HOA/barangay event. Books surveys.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Rooftop referrals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28800" y="46177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install + neighbor's brownout = the viral loop. ₱3,000 per closed referral.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3891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0664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Savings calculator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406640" y="46177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BILECO bill in → savings out, package pre-selected. Our engineer-founder superpower.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 every step before we spend a peso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57984" y="23774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57984" y="237744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21024" y="23774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67328" y="23774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7328" y="237744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23774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76672" y="23774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76672" y="237744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39712" y="23774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86016" y="23774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86016" y="237744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49056" y="23774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95360" y="23774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B3A5B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0" y="237744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2377440"/>
            <a:ext cx="182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204704" y="23774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F2B705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204704" y="2377440"/>
            <a:ext cx="1481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fires an event, attributed by UTM. No ad spend until the funnel delivers a lead end-to-end. Don't scale until ≥2 real deposits.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GOVERNMENT &amp; COMMUNITY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LGU backing — the legal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— be the local economic story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Naval, pay local tax, hire &amp; train local installers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Solarize a public facility (evacuation center, health station) via lawful RA 9184 bidding or CSR at cost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non-monetary endorsement: demo-day support, disaster-preparedness / livelihood programs</a:t>
            </a:r>
            <a:endParaRPr lang="en-US" sz="1400" dirty="0"/>
          </a:p>
          <a:p>
            <a:pPr marL="190500" indent="-1905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BILECO on net-metering awareness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1600200"/>
            <a:ext cx="4023360" cy="4434840"/>
          </a:xfrm>
          <a:prstGeom prst="roundRect">
            <a:avLst>
              <a:gd name="adj" fmla="val 2045"/>
            </a:avLst>
          </a:prstGeom>
          <a:solidFill>
            <a:srgbClr val="2A1113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STOP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9560" y="2194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% to any official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09560" y="2788920"/>
            <a:ext cx="3429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a mayor/official for preference is bribery — RA 3019, RA 6713, Revised Penal Code. Criminal for both sides.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scam-wary market, 'they paid off the mayor' destroys the trust wedge our whole plan rests on.</a:t>
            </a:r>
            <a:endParaRPr lang="en-US" sz="12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F0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official asks for a cut: walk away and document.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weeks to five deposits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78608" cy="4206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578608" cy="685800"/>
          </a:xfrm>
          <a:prstGeom prst="roundRect">
            <a:avLst>
              <a:gd name="adj" fmla="val 12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1–2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 &amp; instrument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BILECO + competitor quotes + 3 interviews; funnel + calculator live; name the slices.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10128" y="1691640"/>
            <a:ext cx="2578608" cy="4206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691640"/>
            <a:ext cx="2578608" cy="685800"/>
          </a:xfrm>
          <a:prstGeom prst="roundRect">
            <a:avLst>
              <a:gd name="adj" fmla="val 12000"/>
            </a:avLst>
          </a:prstGeom>
          <a:solidFill>
            <a:srgbClr val="12233A"/>
          </a:solidFill>
          <a:ln/>
        </p:spPr>
      </p:sp>
      <p:sp>
        <p:nvSpPr>
          <p:cNvPr id="11" name="Text 9"/>
          <p:cNvSpPr/>
          <p:nvPr/>
        </p:nvSpPr>
        <p:spPr>
          <a:xfrm>
            <a:off x="3310128" y="169164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3–5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38728" y="2560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the tests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8728" y="34290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lead ad + demo day. Quotes with the permit checklist. Target: ≤₱500/lead, ≥5 surveys.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71616" y="1691640"/>
            <a:ext cx="2578608" cy="4206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691640"/>
            <a:ext cx="2578608" cy="685800"/>
          </a:xfrm>
          <a:prstGeom prst="roundRect">
            <a:avLst>
              <a:gd name="adj" fmla="val 12000"/>
            </a:avLst>
          </a:prstGeom>
          <a:solidFill>
            <a:srgbClr val="12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6071616" y="169164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6–8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0216" y="2560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&amp; fix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0216" y="34290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→ deposits. Score every test. Fix the biggest leak. Target: first 2 deposits.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33104" y="1691640"/>
            <a:ext cx="2578608" cy="42062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33104" y="1691640"/>
            <a:ext cx="2578608" cy="685800"/>
          </a:xfrm>
          <a:prstGeom prst="roundRect">
            <a:avLst>
              <a:gd name="adj" fmla="val 12000"/>
            </a:avLst>
          </a:prstGeom>
          <a:solidFill>
            <a:srgbClr val="F2B705"/>
          </a:solidFill>
          <a:ln/>
        </p:spPr>
      </p:sp>
      <p:sp>
        <p:nvSpPr>
          <p:cNvPr id="21" name="Text 19"/>
          <p:cNvSpPr/>
          <p:nvPr/>
        </p:nvSpPr>
        <p:spPr>
          <a:xfrm>
            <a:off x="8833104" y="169164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Wk 9–12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61704" y="25603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to five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61704" y="34290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effort into the channel that converts. Install, photograph, referrals. → Mission met.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NOT doing yet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5623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099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our own panels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577840" y="170992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until Mission + ₱400k banked. Pre-revenue, it's premature scaling.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900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5351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8072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fabrication tooling / inventory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577840" y="280720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racking for the first 5 installs. Industrialize only once installs prove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8736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5079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0448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ad spend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577840" y="390448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spend beyond the first test until ≥2 real deposits. Don't scale a leaky bucket.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1846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48072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50017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Fabricated proof or backup claims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577840" y="500176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fake testimonials. No backup promise on on-grid LIWANAG. Ever.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KEEP SCORE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Outcomes, not outputs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AF3EC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booked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paid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signed &amp; energized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 interviews logged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3EAE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COUNT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 &amp; comments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tito wants one"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shipped / docs written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Panels laminated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ledger (ops/status.md) + weekly Triple-A: Analyze the numbers → Ask 3 why → Act with one pre-registered test.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each own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the death clock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468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monthly burn into ops/status.md so runway is real.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3108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__________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19456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0" y="1920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Naval recon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06640" y="2468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BILECO net-metering + one quote each from RK Energy &amp; SolarStream.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3108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__________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40690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savings calculator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6177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BILECO bill in → savings out. The gate to any ad spend.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5257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__________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79476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34340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343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06640" y="406908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3 homeowner interviews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46177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Past-tense, about the last brownout. Into ops/tree.md.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52578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₱99,500 goes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92024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2B70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Line item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2B70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On-grid 2.3 kWp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2B705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Off-grid 1.6 kWp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Panels (bought)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₱23–28k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₱16–20k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Inverter (bought)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₱16–24k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₱18–26k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(bought)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5C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₱22–32k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Racking + boxes + harness (built)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₱10–14k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₱9–13k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+ transport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₱7–10k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₱6–9k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Permits + net-metering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₱6–10k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₱2–4k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₱62–86k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₱73–104k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 @ ₱99.5k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₱14–38k (14–38%)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A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−₱5k → ₱27k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C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600200"/>
            <a:ext cx="3154680" cy="4160520"/>
          </a:xfrm>
          <a:prstGeom prst="roundRect">
            <a:avLst>
              <a:gd name="adj" fmla="val 2609"/>
            </a:avLst>
          </a:prstGeom>
          <a:solidFill>
            <a:srgbClr val="12233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32520" y="1828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732520" y="2240280"/>
            <a:ext cx="2651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battery tier makes or breaks the off-grid package.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base battery size; sell storage upgrades separately.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from the corridor, cost backward — never cost-plus.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racking + boxes moves ₱10–14k/install into our pocket.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dated 2026-07-19 · re-quote before pricing (SC-05 §4).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CHANNEL 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test scorecards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 / Messenger lead ad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06040" y="27889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≥X% of a Naval slice submit a lead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06040" y="32461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₱500 per qualified lead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06040" y="37033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₱12k · ≤ 3 weeks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4160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+ calculator live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06040" y="4617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525780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4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Barangay / HOA demo day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7889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touchable rig books surveys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32461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83880" y="32461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 site surveys booked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92240" y="3703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83880" y="37033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₱12k · ≤ 3 weeks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4160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183880" y="41605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rig + slice chosen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617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83880" y="461772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max 3 concurrent tests · no ad peso until the funnel delivers end-to-end · an unscored test blocks the next · don't scale until ≥2 real deposits.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97680"/>
            <a:ext cx="3840480" cy="384048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188720"/>
            <a:ext cx="3108960" cy="310896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5 deposits.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we earn the factory.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hard parts, build the system, sell installs — funded by our own banked cash, not hope.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2026-07-19T08:15:19Z</dcterms:created>
  <dcterms:modified xsi:type="dcterms:W3CDTF">2026-07-19T08:15:19Z</dcterms:modified>
</cp:coreProperties>
</file>