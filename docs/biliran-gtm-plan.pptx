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go-to-market plan. One goal, one market, and the sequence that gets us to our first 5 paid installs.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Mission is the boss. 5 deposits banked by Oct 9. Not leads, not promises — money in the bank. We're at zero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Expensive power, constant brownouts, and nobody local serving them. That's the setup for a local-first 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not choosing whether to build our own panels — we're choosing the order. Sell first, manufacture later, funded by our own cash.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don't beat national brands on price-per-watt. We win the island on local presence, paperwork, typhoon durability, and a clear fixed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local. The nearest players add freight and slow service. First recon task: get their real 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fixed packages in the ₱80–100k window. Outcome next to every price. We hold the line on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Fight the engineer bias. Direct, local, offline, referral. Max 3 tests at once, each pre-registered with a pass/fail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machine. We measure each step so we fix the real leak instead of guessing. Deposit is the only stage that counts as the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instinct — get LGU to favor local — is right. We earn it by being genuinely local and solarizing public facilities lawfully. We never pay for it. That's illegal and it would blow up our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number per phase, not a date per task. Two deposits by week 8 unlocks scaling; five by week 12 is the 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Discipline is the strategy. Every one of these is a classic way pre-revenue startups die. We hold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countable commitments count. We report the business by what customers did, never by what we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named owner per deliverable — no name means it isn't being done. Assign owners live in this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plan in one line. Sell now, build the moat later, on our own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114800" cy="4114800"/>
          </a:xfrm>
          <a:prstGeom prst="ellipse">
            <a:avLst/>
          </a:prstGeom>
          <a:solidFill>
            <a:srgbClr val="1B3A5B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640080"/>
            <a:ext cx="822960" cy="822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777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CITY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Biliran Go-To-Market Plan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to our first 5 paid installs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plan · REV A · 2026-07-19 · Market: Biliran province (BILECO)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GOAL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points at one number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4023360" y="21945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₱99,500 installs — deposits banked, not promised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023360" y="29718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09 October 2026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3474720" cy="1554480"/>
          </a:xfrm>
          <a:prstGeom prst="roundRect">
            <a:avLst>
              <a:gd name="adj" fmla="val 5294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4892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5669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today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0" y="4709160"/>
            <a:ext cx="3474720" cy="1554480"/>
          </a:xfrm>
          <a:prstGeom prst="roundRect">
            <a:avLst>
              <a:gd name="adj" fmla="val 5294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4892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297680" y="5669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left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4709160"/>
            <a:ext cx="3474720" cy="1554480"/>
          </a:xfrm>
          <a:prstGeom prst="roundRect">
            <a:avLst>
              <a:gd name="adj" fmla="val 5294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0" y="4892040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₱400k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8046720" y="56692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unlocks the factory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Biliran is an uncontested pond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42062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20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₱12.95</a:t>
            </a:r>
            <a:pPr indent="0" marL="0">
              <a:buNone/>
            </a:pPr>
            <a:r>
              <a:rPr lang="en-US" sz="1600" b="1" dirty="0">
                <a:solidFill>
                  <a:srgbClr val="5C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/kWh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2971800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832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BILECO residential rate (2026) — higher than mainland Leyte. Expensive island power = the bill-pain.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25112" y="1554480"/>
            <a:ext cx="3520440" cy="42062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20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</a:t>
            </a:r>
            <a:pPr indent="0" marL="0">
              <a:buNone/>
            </a:pPr>
            <a:r>
              <a:rPr lang="en-US" sz="1600" b="1" dirty="0">
                <a:solidFill>
                  <a:srgbClr val="5C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brownouts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4599432" y="3200400"/>
            <a:ext cx="2971800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33832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Island coop grid; scheduled interruptions are routine. The #1 organic demand driver.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01584" y="1554480"/>
            <a:ext cx="3520440" cy="420624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75904" y="19202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indent="0" marL="0">
              <a:buNone/>
            </a:pPr>
            <a:r>
              <a:rPr lang="en-US" sz="1600" b="1" dirty="0">
                <a:solidFill>
                  <a:srgbClr val="5C6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on-island installers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8375904" y="3200400"/>
            <a:ext cx="2971800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3383280"/>
            <a:ext cx="2971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is off-island — Tacloban by road, Cebu by barge. That absence is the opening.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STRATEGY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models — in the right 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— DO NOW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&amp; install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near-term revenue engine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panels, inverters, batteries; sell installs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Hand-build racking, harness, power boxes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Earns in weeks — funds everything else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first 5 installs come from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57800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18745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— GATED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21945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our own panels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492240" y="2788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long-term moat — later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329184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module manufacturing = the moat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until Mission met + ₱400k banked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Pre-revenue, it's premature scaling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the factory with Model B cash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Biliran family picks us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03120"/>
            <a:ext cx="822960" cy="822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7452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On-island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74520" y="2377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freight surcharge, no warranty delay across the strait. We're already here.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103120"/>
            <a:ext cx="822960" cy="822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1031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52360" y="18745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BILECO-fluent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52360" y="237744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own the net-metering paperwork. National installers only know Meralco.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343400"/>
            <a:ext cx="822960" cy="822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74520" y="4114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Typhoon-rated racking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74520" y="46177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typhoon-awareness market in PH (Yolanda). Our racking is the physical proof.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343400"/>
            <a:ext cx="822960" cy="822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52360" y="4114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₱99,500 all-in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52360" y="4617720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opaque, freight-inflated quotes — with the honest 'reason why'.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real is off-island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RK Energy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4297680" y="178308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Tacloban — by road (~2–3 hr + bridge)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17830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real installer. Facebook-based.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1752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320040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SolarStream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297680" y="32004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Cebu — barge / air freight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0" y="320040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Leyte/Samar; doesn't even list Biliran.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461772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Cebu / national brands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297680" y="46177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Cebu &amp; Luzon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0" y="461772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+ remote warranty; compete on the web, not the island.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on the ground: get one quote each from RK Energy + SolarStream for a Naval address — their freight surcharge is our proof.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packages, one price corridor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0020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23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45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LIWANAG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On-grid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₱99,500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BILECO bill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— anti-islanding (honest)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5112" y="160020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25112" y="160020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233A"/>
          </a:solidFill>
          <a:ln/>
        </p:spPr>
      </p:sp>
      <p:sp>
        <p:nvSpPr>
          <p:cNvPr id="13" name="Text 11"/>
          <p:cNvSpPr/>
          <p:nvPr/>
        </p:nvSpPr>
        <p:spPr>
          <a:xfrm>
            <a:off x="4325112" y="1645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ILAW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325112" y="208483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Off-grid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25112" y="2697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₱99,500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99432" y="3429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Lights + WiFi through brownouts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99432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Battery-backed independence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01584" y="1600200"/>
            <a:ext cx="352044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01584" y="1600200"/>
            <a:ext cx="3520440" cy="822960"/>
          </a:xfrm>
          <a:prstGeom prst="roundRect">
            <a:avLst>
              <a:gd name="adj" fmla="val 10000"/>
            </a:avLst>
          </a:prstGeom>
          <a:solidFill>
            <a:srgbClr val="12233A"/>
          </a:solidFill>
          <a:ln/>
        </p:spPr>
      </p:sp>
      <p:sp>
        <p:nvSpPr>
          <p:cNvPr id="20" name="Text 18"/>
          <p:cNvSpPr/>
          <p:nvPr/>
        </p:nvSpPr>
        <p:spPr>
          <a:xfrm>
            <a:off x="8101584" y="164592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SANDIGAN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101584" y="208483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1584" y="2697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₱99,500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375904" y="342900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savings + storm backup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75904" y="4023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of both — the flagship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price carries its outcome. Front end holds the corridor price — no hardware discounts. Free calculator + free survey are the only loss-leaders.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REACH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channels to test — not SEO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18745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Facebook groups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Naval community + buy/sell groups where installers already sell. Copy the mechanics, not the claims.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26480" y="160020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46520" y="214884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148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06640" y="187452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Barangay demo day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06640" y="237744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touchable panel + inverter + battery rig at an HOA/barangay event. Books surveys.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3891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89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828800" y="41148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Rooftop referrals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28800" y="461772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install + neighbor's brownout = the viral loop. ₱3,000 per closed referral.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126480" y="3840480"/>
            <a:ext cx="525780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4389120"/>
            <a:ext cx="777240" cy="7772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389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06640" y="41148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Savings calculator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06640" y="461772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BILECO bill in → savings out, package pre-selected. Our engineer-founder superpower.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 every step before we spend a peso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011680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157984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57984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21024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767328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67328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230368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376672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76672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39712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986016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86016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49056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595360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1B3A5B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0" y="2377440"/>
            <a:ext cx="182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204704" y="237744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204704" y="2377440"/>
            <a:ext cx="1481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4297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fires an event, attributed by UTM. No ad spend until the funnel delivers a lead end-to-end. Don't scale until ≥2 real deposits.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GOVERNMENT &amp; COMMUNITY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LGU backing — the legal way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76656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28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— be the local economic story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6035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in Naval, pay local tax, hire &amp; train local installers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Solarize a public facility (evacuation center, health station) via lawful RA 9184 bidding or CSR at cost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non-monetary endorsement: demo-day support, disaster-preparedness / livelihood programs</a:t>
            </a:r>
            <a:endParaRPr lang="en-US" sz="1400" dirty="0"/>
          </a:p>
          <a:p>
            <a:pPr marL="190500" indent="-1905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with BILECO on net-metering awareness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589520" y="1600200"/>
            <a:ext cx="4023360" cy="4434840"/>
          </a:xfrm>
          <a:prstGeom prst="roundRect">
            <a:avLst>
              <a:gd name="adj" fmla="val 2045"/>
            </a:avLst>
          </a:prstGeom>
          <a:solidFill>
            <a:srgbClr val="2A1113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909560" y="182880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STOP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09560" y="21945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% to any official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09560" y="2788920"/>
            <a:ext cx="3429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0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mayor/official for preference is bribery — RA 3019, RA 6713, Revised Penal Code. Criminal for both sides.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0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scam-wary market, 'they paid off the mayor' destroys the trust wedge our whole plan rests on.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F0D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 official asks for a cut: walk away and document.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weeks to five deposits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78608" cy="420624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2578608" cy="685800"/>
          </a:xfrm>
          <a:prstGeom prst="roundRect">
            <a:avLst>
              <a:gd name="adj" fmla="val 12000"/>
            </a:avLst>
          </a:prstGeom>
          <a:solidFill>
            <a:srgbClr val="12233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257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Wk 1–2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 &amp; instrument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BILECO + competitor quotes + 3 interviews; funnel + calculator live; name the slices.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10128" y="1691640"/>
            <a:ext cx="2578608" cy="420624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0128" y="1691640"/>
            <a:ext cx="2578608" cy="685800"/>
          </a:xfrm>
          <a:prstGeom prst="roundRect">
            <a:avLst>
              <a:gd name="adj" fmla="val 12000"/>
            </a:avLst>
          </a:prstGeom>
          <a:solidFill>
            <a:srgbClr val="12233A"/>
          </a:solidFill>
          <a:ln/>
        </p:spPr>
      </p:sp>
      <p:sp>
        <p:nvSpPr>
          <p:cNvPr id="11" name="Text 9"/>
          <p:cNvSpPr/>
          <p:nvPr/>
        </p:nvSpPr>
        <p:spPr>
          <a:xfrm>
            <a:off x="3310128" y="1691640"/>
            <a:ext cx="257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Wk 3–5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38728" y="25603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Fire the tests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34290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 lead ad + demo day. Quotes with the permit checklist. Target: ≤₱500/lead, ≥5 surveys.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71616" y="1691640"/>
            <a:ext cx="2578608" cy="420624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071616" y="1691640"/>
            <a:ext cx="2578608" cy="685800"/>
          </a:xfrm>
          <a:prstGeom prst="roundRect">
            <a:avLst>
              <a:gd name="adj" fmla="val 12000"/>
            </a:avLst>
          </a:prstGeom>
          <a:solidFill>
            <a:srgbClr val="12233A"/>
          </a:solidFill>
          <a:ln/>
        </p:spPr>
      </p:sp>
      <p:sp>
        <p:nvSpPr>
          <p:cNvPr id="16" name="Text 14"/>
          <p:cNvSpPr/>
          <p:nvPr/>
        </p:nvSpPr>
        <p:spPr>
          <a:xfrm>
            <a:off x="6071616" y="1691640"/>
            <a:ext cx="257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Wk 6–8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00216" y="25603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 &amp; fix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→ deposits. Score every test. Fix the biggest leak. Target: first 2 deposits.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33104" y="1691640"/>
            <a:ext cx="2578608" cy="420624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33104" y="1691640"/>
            <a:ext cx="2578608" cy="685800"/>
          </a:xfrm>
          <a:prstGeom prst="roundRect">
            <a:avLst>
              <a:gd name="adj" fmla="val 12000"/>
            </a:avLst>
          </a:prstGeom>
          <a:solidFill>
            <a:srgbClr val="F2B705"/>
          </a:solidFill>
          <a:ln/>
        </p:spPr>
      </p:sp>
      <p:sp>
        <p:nvSpPr>
          <p:cNvPr id="21" name="Text 19"/>
          <p:cNvSpPr/>
          <p:nvPr/>
        </p:nvSpPr>
        <p:spPr>
          <a:xfrm>
            <a:off x="8833104" y="1691640"/>
            <a:ext cx="2578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Wk 9–12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61704" y="2560320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to five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061704" y="3429000"/>
            <a:ext cx="2148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effort into the channel that converts. Install, photograph, referrals. → Mission met.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doing yet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9280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5623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17099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our own panels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577840" y="170992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until Mission + ₱400k banked. Pre-revenue, it's premature scaling.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974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9008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5351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80720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fabrication tooling / inventory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5577840" y="280720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Off-the-shelf racking for the first 5 installs. Industrialize only once installs prove it.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8736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5079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08760" y="390448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ad spend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577840" y="390448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spend beyond the first test until ≥2 real deposits. Don't scale a leaky bucket.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68680" y="5184648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148072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08760" y="50017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Fabricated proof or backup claims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5577840" y="500176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fake testimonials. No backup promise on on-grid LIWANAG. Ever.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SCORE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Outcomes, not outputs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3EC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Surveys booked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 paid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signed &amp; energized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Homeowner interviews logged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3EAE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COUNT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331720"/>
            <a:ext cx="46634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 &amp; comments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tito wants one"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shipped / docs written</a:t>
            </a:r>
            <a:endParaRPr lang="en-US" sz="16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Panels laminated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ledger (ops/status.md) + weekly Triple-A: Analyze the numbers → Ask 3 why → Act with one pre-registered test.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each own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9456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828800" y="19202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the death clock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468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+ monthly burn into ops/status.md so runway is real.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3108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__________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46520" y="219456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21945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06640" y="192024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Naval recon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406640" y="246888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BILECO net-metering + one quote each from RK Energy &amp; SolarStream.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06640" y="3108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__________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34340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828800" y="4069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savings calculator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828800" y="461772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BILECO bill in → savings out. The gate to any ad spend.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828800" y="52578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__________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4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46520" y="4343400"/>
            <a:ext cx="777240" cy="77724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06640" y="406908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3 homeowner interviews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406640" y="461772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Past-tense, about the last brownout. Into ops/tree.md.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406640" y="525780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__________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97680"/>
            <a:ext cx="3840480" cy="3840480"/>
          </a:xfrm>
          <a:prstGeom prst="ellipse">
            <a:avLst/>
          </a:prstGeom>
          <a:solidFill>
            <a:srgbClr val="1B3A5B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-1188720"/>
            <a:ext cx="3108960" cy="3108960"/>
          </a:xfrm>
          <a:prstGeom prst="ellipse">
            <a:avLst/>
          </a:prstGeom>
          <a:solidFill>
            <a:srgbClr val="F2B70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5 deposits.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48640" y="3337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we earn the factory.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4663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hard parts, build the system, sell installs — funded by our own banked cash, not hope.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2026-07-19T05:20:13Z</dcterms:created>
  <dcterms:modified xsi:type="dcterms:W3CDTF">2026-07-19T05:20:13Z</dcterms:modified>
</cp:coreProperties>
</file>