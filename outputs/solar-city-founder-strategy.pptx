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a54d16f47944e3" /><Relationship Type="http://schemas.openxmlformats.org/officeDocument/2006/relationships/extended-properties" Target="/docProps/app.xml" Id="Rc68043e3a5bc479a" /><Relationship Type="http://schemas.openxmlformats.org/officeDocument/2006/relationships/officeDocument" Target="/ppt/presentation.xml" Id="Rcc645d7705c44b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9d940c798c4260"/>
  </p:sldMasterIdLst>
  <p:notesMasterIdLst>
    <p:notesMasterId xmlns:r="http://schemas.openxmlformats.org/officeDocument/2006/relationships" r:id="Rc8eb0b62a721491f"/>
  </p:notesMasterIdLst>
  <p:sldIdLst>
    <p:sldId xmlns:r="http://schemas.openxmlformats.org/officeDocument/2006/relationships" id="256" r:id="R7f57d13a796f48c1"/>
    <p:sldId xmlns:r="http://schemas.openxmlformats.org/officeDocument/2006/relationships" id="257" r:id="R38318c8095b54b3d"/>
    <p:sldId xmlns:r="http://schemas.openxmlformats.org/officeDocument/2006/relationships" id="258" r:id="R37ab1d40d3ea4c71"/>
    <p:sldId xmlns:r="http://schemas.openxmlformats.org/officeDocument/2006/relationships" id="259" r:id="R3529bb8148a048e4"/>
    <p:sldId xmlns:r="http://schemas.openxmlformats.org/officeDocument/2006/relationships" id="260" r:id="R650ca9f0748f4fb2"/>
    <p:sldId xmlns:r="http://schemas.openxmlformats.org/officeDocument/2006/relationships" id="261" r:id="Rbcc645a1f8ab42be"/>
    <p:sldId xmlns:r="http://schemas.openxmlformats.org/officeDocument/2006/relationships" id="262" r:id="R6736c14ccdba4376"/>
    <p:sldId xmlns:r="http://schemas.openxmlformats.org/officeDocument/2006/relationships" id="263" r:id="R58e4017dd98e4f7a"/>
    <p:sldId xmlns:r="http://schemas.openxmlformats.org/officeDocument/2006/relationships" id="264" r:id="R0d0c1bca4be04c0e"/>
    <p:sldId xmlns:r="http://schemas.openxmlformats.org/officeDocument/2006/relationships" id="265" r:id="R13273a6e83e04b5b"/>
    <p:sldId xmlns:r="http://schemas.openxmlformats.org/officeDocument/2006/relationships" id="266" r:id="R4b1cade20b0b4d3e"/>
    <p:sldId xmlns:r="http://schemas.openxmlformats.org/officeDocument/2006/relationships" id="267" r:id="Rbf9bb4467ac5427c"/>
    <p:sldId xmlns:r="http://schemas.openxmlformats.org/officeDocument/2006/relationships" id="268" r:id="R214cbfb1c21348d7"/>
    <p:sldId xmlns:r="http://schemas.openxmlformats.org/officeDocument/2006/relationships" id="269" r:id="R5cac64929a944b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c3970d928e40a7" /><Relationship Type="http://schemas.openxmlformats.org/officeDocument/2006/relationships/slideMaster" Target="/ppt/slideMasters/slideMaster1.xml" Id="Rd79d940c798c4260" /><Relationship Type="http://schemas.openxmlformats.org/officeDocument/2006/relationships/notesMaster" Target="/ppt/notesMasters/notesMaster1.xml" Id="Rc8eb0b62a721491f" /><Relationship Type="http://schemas.openxmlformats.org/officeDocument/2006/relationships/presProps" Target="/ppt/presProps.xml" Id="Re63f07fecf244a26" /><Relationship Type="http://schemas.openxmlformats.org/officeDocument/2006/relationships/tableStyles" Target="/ppt/tableStyles.xml" Id="R0e712c038d7742fd" /><Relationship Type="http://schemas.openxmlformats.org/officeDocument/2006/relationships/slide" Target="/ppt/slides/slide1.xml" Id="R7f57d13a796f48c1" /><Relationship Type="http://schemas.openxmlformats.org/officeDocument/2006/relationships/slide" Target="/ppt/slides/slide2.xml" Id="R38318c8095b54b3d" /><Relationship Type="http://schemas.openxmlformats.org/officeDocument/2006/relationships/slide" Target="/ppt/slides/slide3.xml" Id="R37ab1d40d3ea4c71" /><Relationship Type="http://schemas.openxmlformats.org/officeDocument/2006/relationships/slide" Target="/ppt/slides/slide4.xml" Id="R3529bb8148a048e4" /><Relationship Type="http://schemas.openxmlformats.org/officeDocument/2006/relationships/slide" Target="/ppt/slides/slide5.xml" Id="R650ca9f0748f4fb2" /><Relationship Type="http://schemas.openxmlformats.org/officeDocument/2006/relationships/slide" Target="/ppt/slides/slide6.xml" Id="Rbcc645a1f8ab42be" /><Relationship Type="http://schemas.openxmlformats.org/officeDocument/2006/relationships/slide" Target="/ppt/slides/slide7.xml" Id="R6736c14ccdba4376" /><Relationship Type="http://schemas.openxmlformats.org/officeDocument/2006/relationships/slide" Target="/ppt/slides/slide8.xml" Id="R58e4017dd98e4f7a" /><Relationship Type="http://schemas.openxmlformats.org/officeDocument/2006/relationships/slide" Target="/ppt/slides/slide9.xml" Id="R0d0c1bca4be04c0e" /><Relationship Type="http://schemas.openxmlformats.org/officeDocument/2006/relationships/slide" Target="/ppt/slides/slide10.xml" Id="R13273a6e83e04b5b" /><Relationship Type="http://schemas.openxmlformats.org/officeDocument/2006/relationships/slide" Target="/ppt/slides/slide11.xml" Id="R4b1cade20b0b4d3e" /><Relationship Type="http://schemas.openxmlformats.org/officeDocument/2006/relationships/slide" Target="/ppt/slides/slide12.xml" Id="Rbf9bb4467ac5427c" /><Relationship Type="http://schemas.openxmlformats.org/officeDocument/2006/relationships/slide" Target="/ppt/slides/slide13.xml" Id="R214cbfb1c21348d7" /><Relationship Type="http://schemas.openxmlformats.org/officeDocument/2006/relationships/slide" Target="/ppt/slides/slide14.xml" Id="R5cac64929a944b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d94fb8076240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68faa3c684584" /><Relationship Type="http://schemas.openxmlformats.org/officeDocument/2006/relationships/notesMaster" Target="/ppt/notesMasters/notesMaster1.xml" Id="R990c50c5b760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320b4a7b545f1" /><Relationship Type="http://schemas.openxmlformats.org/officeDocument/2006/relationships/notesMaster" Target="/ppt/notesMasters/notesMaster1.xml" Id="Rd927bef6b10c4a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b94b3f7e44fea" /><Relationship Type="http://schemas.openxmlformats.org/officeDocument/2006/relationships/notesMaster" Target="/ppt/notesMasters/notesMaster1.xml" Id="R989edb74f93649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1fd8a9dab24f3f" /><Relationship Type="http://schemas.openxmlformats.org/officeDocument/2006/relationships/notesMaster" Target="/ppt/notesMasters/notesMaster1.xml" Id="R01968a95df4642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c99cd10c024037" /><Relationship Type="http://schemas.openxmlformats.org/officeDocument/2006/relationships/notesMaster" Target="/ppt/notesMasters/notesMaster1.xml" Id="R4256800463e644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fa41b913294a1e" /><Relationship Type="http://schemas.openxmlformats.org/officeDocument/2006/relationships/notesMaster" Target="/ppt/notesMasters/notesMaster1.xml" Id="Rd69cbcd0dc1945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5a27e887184a7a" /><Relationship Type="http://schemas.openxmlformats.org/officeDocument/2006/relationships/notesMaster" Target="/ppt/notesMasters/notesMaster1.xml" Id="Rc67953afcc6e40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2ec6fc90a4abb" /><Relationship Type="http://schemas.openxmlformats.org/officeDocument/2006/relationships/notesMaster" Target="/ppt/notesMasters/notesMaster1.xml" Id="Rb10917d4e17642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459d99e88e45da" /><Relationship Type="http://schemas.openxmlformats.org/officeDocument/2006/relationships/notesMaster" Target="/ppt/notesMasters/notesMaster1.xml" Id="R8ae222096dbd49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9196a71e7b4525" /><Relationship Type="http://schemas.openxmlformats.org/officeDocument/2006/relationships/notesMaster" Target="/ppt/notesMasters/notesMaster1.xml" Id="R3bf737e188754d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56d2c5d30d4a7d" /><Relationship Type="http://schemas.openxmlformats.org/officeDocument/2006/relationships/notesMaster" Target="/ppt/notesMasters/notesMaster1.xml" Id="Re16c9bb659cc4a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274e349a7e4fa3" /><Relationship Type="http://schemas.openxmlformats.org/officeDocument/2006/relationships/notesMaster" Target="/ppt/notesMasters/notesMaster1.xml" Id="R58493cf2f14748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a9f4a03e3449a2" /><Relationship Type="http://schemas.openxmlformats.org/officeDocument/2006/relationships/notesMaster" Target="/ppt/notesMasters/notesMaster1.xml" Id="R62fd8f99f32748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7485b76f464e95" /><Relationship Type="http://schemas.openxmlformats.org/officeDocument/2006/relationships/notesMaster" Target="/ppt/notesMasters/notesMaster1.xml" Id="Re254bdd9366f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61a7ea7e34b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5e3edf1e9945c6" /><Relationship Type="http://schemas.openxmlformats.org/officeDocument/2006/relationships/slideLayout" Target="/ppt/slideLayouts/slideLayout1.xml" Id="R97847c8c3cd24a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47c8c3cd24a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afd785574f44" /><Relationship Type="http://schemas.openxmlformats.org/officeDocument/2006/relationships/image" Target="/ppt/media/image.png" Id="R201f9138203a4e9d" /><Relationship Type="http://schemas.openxmlformats.org/officeDocument/2006/relationships/notesSlide" Target="/ppt/notesSlides/notesSlide1.xml" Id="Rc00e5c7b197644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85a6c7d4f46b0" /><Relationship Type="http://schemas.openxmlformats.org/officeDocument/2006/relationships/notesSlide" Target="/ppt/notesSlides/notesSlide2.xml" Id="Raca15adc6c27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03e3164914ba7" /><Relationship Type="http://schemas.openxmlformats.org/officeDocument/2006/relationships/notesSlide" Target="/ppt/notesSlides/notesSlide3.xml" Id="R673640d2aa4d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773cfd1424c54" /><Relationship Type="http://schemas.openxmlformats.org/officeDocument/2006/relationships/image" Target="/ppt/media/image2.png" Id="Re67ff39de6654702" /><Relationship Type="http://schemas.openxmlformats.org/officeDocument/2006/relationships/notesSlide" Target="/ppt/notesSlides/notesSlide4.xml" Id="R8b2b9fefa33f4b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e53e4d0a64df4" /><Relationship Type="http://schemas.openxmlformats.org/officeDocument/2006/relationships/notesSlide" Target="/ppt/notesSlides/notesSlide5.xml" Id="R584882b92a264f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5e0e77b0e46d7" /><Relationship Type="http://schemas.openxmlformats.org/officeDocument/2006/relationships/notesSlide" Target="/ppt/notesSlides/notesSlide6.xml" Id="Rf7057aee081a46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a55eecdad4133" /><Relationship Type="http://schemas.openxmlformats.org/officeDocument/2006/relationships/notesSlide" Target="/ppt/notesSlides/notesSlide7.xml" Id="R97e52ea35ed34c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95ae3600e4ce2" /><Relationship Type="http://schemas.openxmlformats.org/officeDocument/2006/relationships/notesSlide" Target="/ppt/notesSlides/notesSlide8.xml" Id="R73ff395e889e49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96ce5dfb4714" /><Relationship Type="http://schemas.openxmlformats.org/officeDocument/2006/relationships/image" Target="/ppt/media/image3.png" Id="R197f65608d5a4f14" /><Relationship Type="http://schemas.openxmlformats.org/officeDocument/2006/relationships/notesSlide" Target="/ppt/notesSlides/notesSlide9.xml" Id="R1bc7b8b850d3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041fe7a904929" /><Relationship Type="http://schemas.openxmlformats.org/officeDocument/2006/relationships/notesSlide" Target="/ppt/notesSlides/notesSlide10.xml" Id="Rc2ddf6d3d3ef49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10d6999964b74" /><Relationship Type="http://schemas.openxmlformats.org/officeDocument/2006/relationships/notesSlide" Target="/ppt/notesSlides/notesSlide11.xml" Id="R787d129b36cc4b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5d3b7c83a4490" /><Relationship Type="http://schemas.openxmlformats.org/officeDocument/2006/relationships/notesSlide" Target="/ppt/notesSlides/notesSlide12.xml" Id="R71fdf0e4cff54d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214ca6a6541f3" /><Relationship Type="http://schemas.openxmlformats.org/officeDocument/2006/relationships/notesSlide" Target="/ppt/notesSlides/notesSlide13.xml" Id="Rc8cb6cfa187440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5f39fba144554" /><Relationship Type="http://schemas.openxmlformats.org/officeDocument/2006/relationships/notesSlide" Target="/ppt/notesSlides/notesSlide14.xml" Id="Rb9933704b8d242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08218-DD87-4CD5-92B1-108616F6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2CCD2-1230-4D17-8B32-61EB456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COFOUNDER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6B8BC-A652-4579-901C-9D179615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B1DED-666B-4853-B1FA-B690E25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CC1EB-CA60-46CB-AA3F-AF830F1D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4C2E5-1C65-4C7A-B6A7-41043D12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6E7E5-1AE9-4743-BA5B-FD591112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28E98-8811-4800-87C5-BD273DD7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SOLAR 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2188A-4279-46F6-B652-958D6B6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2197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How we will find</a:t>
            </a:r>
          </a:p>
          <a:p xmlns:a="http://schemas.openxmlformats.org/drawingml/2006/main">
            <a:pPr algn="l">
              <a:def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our first repeatable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86C2A-1FC0-4F76-8571-9545ADFD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5191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Costing · positioning · pricing · marketing · branding · culture · product–market fit ·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22520-F865-4B2E-9EBE-414EAAFF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52197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DEA9B-B748-4881-B30D-33F099C1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Working strategy for founder decisions — not a claim that the market is already proven.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2F88F-0DE9-45EC-A801-035C4ED5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"/>
            <a:ext cx="60960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f9138203a4e9d"/>
          <a:srcRect xmlns:a="http://schemas.openxmlformats.org/drawingml/2006/main" l="18296" t="0" r="18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352425"/>
            <a:ext cx="5619750" cy="5543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74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15B29-2456-4E50-B693-920B590B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44BDB-632C-427F-B3D0-1075BA52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AA809-32B7-4E50-92C8-E1E2525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NORTH STAR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74D8F-58B5-4877-94BB-01BD9EAF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56F79-A996-463E-93C2-6D9BF3F5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0B4C5-4CF9-4285-AA51-6907C33B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8F7C4-0781-4D49-9865-1557D091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One outcome governs every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1E010-A072-4873-9528-03A6283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26B38-54A1-495E-BA24-B3E0C54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12492-1D27-4E12-8E3F-AECA966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D41BA-5929-493D-8DF6-C25DB5B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366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paid ₱99,500 installs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CF307-6D37-401B-A8CC-8FD531A7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3842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Deposits banked — not promised — by 9 October 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C8172-38D2-4A2B-89B1-F1810B28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53149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16F55-81D7-4505-AD4D-8AA7429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evidence 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B0AA0-9720-442E-86CD-87748921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47625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Count: lead submissions · booked surveys · paid deposits · signed contracts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 not count: likes · comments · compliments · “my friend is interested”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CC3F4-1BC3-4D88-9394-B11E81D3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Every activity must move a buyer one step closer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FA9F0-8CDD-43B9-9718-F1C21DEC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3AC13-BF3E-4916-BE0A-C4991D82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812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12DCB-58F0-4BDE-B246-39E47EA1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001F2-829A-4C6D-887D-AD13B53E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Homeowner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ED86D-19CD-4788-9635-E53A8869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Past behavior and prior spend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77979-58A4-419A-A752-EF1286B8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3473C-CF70-417A-BF5B-B03CF30D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B22FC-0127-48EA-9D4A-AD195022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4D340-FC73-443B-8A2C-3C5A4AD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38475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Qualified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A12CB-4820-4E4E-AB72-605BB2B1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5752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Fit, bill, roof, location, alternative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05318-52FF-4900-A77A-0D0DB330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EDC0A-D1FA-4AFC-B538-8CDAFEBA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31A06-C710-41D8-9826-D696A94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340CF8-9745-4DBB-85C0-E883E517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0525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Site survey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FAB691-6F55-4D8A-B436-C09AD20D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Time committed to a real assessment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BABE88-0F2B-4857-81CA-635BCDCD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38675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6DD83-9CE9-47D5-A83F-883C2E18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81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F70C5-9E80-4604-8B44-2AFFDF5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EA9E75-6C56-45EA-8672-93CDC108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72025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Paid deposit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7E26FA-EF8D-4040-B25D-D33E9D16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strongest pre-install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64B8D-5018-4D22-877D-14797DA9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5467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8A7380-EF58-4D5E-BA85-BAD04604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43575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1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Ledger gap: ops/status.md is missing, so planning figures remain hypotheses.</a:t>
            </a:r>
          </a:p>
        </p:txBody>
      </p:sp>
    </p:spTree>
    <p:extLst>
      <p:ext uri="{BB962C8B-B14F-4D97-AF65-F5344CB8AC3E}">
        <p14:creationId xmlns:p14="http://schemas.microsoft.com/office/powerpoint/2010/main" val="14524952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3861A-3723-487C-B66F-433E9FF9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F377D-8EDD-42DB-9505-969A97D6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AEBBA-DB85-4357-8D76-4E6C8A12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COMPANY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92684-BD26-4556-9AD5-C41EC6D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A4345-3AEF-428B-8774-D97BD4C6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7B03D-57B6-4FCF-B26D-CDE89A0A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B2F30-646D-4DA3-9636-F7046D63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Model B earns the right to build Model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72C43-D198-4821-9E3B-6872D675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673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09213-BA31-4E69-8634-6BAD671D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MODEL B · REVENUE ENGINE ·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F18B6-48A5-44B1-AD84-D7729834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SOURCE + INSTALL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4E5B9-D79D-4293-9616-3ABA2E80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50101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Buy certified panels, inverters, and batteries. Standardize the design, install safely, and own the customer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Job now: learn how to sell, quote, deliver, and earn margin on a fixed package.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47EEF-2EF4-426E-B16D-7DFD1518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4673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2D309-9335-48C4-92DE-C8BE1D22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 A · LONG-TERM MOAT · GATED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A7419-107A-4BF0-AF5E-93CECB6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BUILD OUR OWN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B730C-7DF9-4FFC-8799-A37ADF26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19375"/>
            <a:ext cx="50101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Develop local manufacturing only where local warranty, service turnaround, Philippine field data, and trust create a defensible value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Job later: convert proven volume and margin into a manufacturing moat.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348B7-B4DD-4DB4-9BD4-4F294C44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50101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24D4-2AA1-41D2-B86B-E8FB11B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57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UNLOCK ONLY 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C11BC-8480-42F5-8131-55BA8E28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 paid installs + ₱400k banked Model B gross 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D3CD5-3189-45D1-A541-B9893C2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09D71-7844-495B-B040-A4A18DA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Until then: Model A stays inside the trainer cap — one founder-day/week, ≤40 cells, ≤₱20k per item.</a:t>
            </a:r>
          </a:p>
        </p:txBody>
      </p:sp>
    </p:spTree>
    <p:extLst>
      <p:ext uri="{BB962C8B-B14F-4D97-AF65-F5344CB8AC3E}">
        <p14:creationId xmlns:p14="http://schemas.microsoft.com/office/powerpoint/2010/main" val="19111969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38A87-8FBF-4DE5-874C-B1FE8E5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84CD5-CB5F-4FFC-85A3-A6302367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7B9F9-170F-402A-BECF-9D3DAF9F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MVP-ING THE FIRST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0C8E0-FA4A-4E70-8299-E8E9A03B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D219-122F-4E5F-856E-6B284BE4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76514-B629-4D4F-A739-546247D8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84C2F-8D59-4D10-869E-28BD5135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first MVP is LIWANAG — one buyer, one offer, one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AFFB0-CBB2-4DEA-89B2-5F75692A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1943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0407E-0ED9-4557-B57E-E543CCA9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RECOMMENDED FIRST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AF9AE-B1B7-4E8F-98A6-6D89702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Best-fit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35393-1508-4C8B-9DE6-B65899A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83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Owner-occupied home · stable grid · roughly ₱8k–₱15k monthly bill · inside a named launch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A1DE9-E187-4A47-B2C2-428B7DF9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CC579-E4E4-498E-8750-6CA6A137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838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~2.3 kWp grid-tied system · purchased certified hardware · standardized BOM and scope · installed at a planning price of ₱99,500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47437-DD92-4166-8D93-330E9BDE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Customer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33A74-AC82-44FD-A6A7-BAAAFE4F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483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Reduce daytime grid purchases; show projected peso savings based on the homeowner’s real bill and usage pattern.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E39C5-7B54-457B-A7CA-E179F799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52575"/>
            <a:ext cx="60769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ff39de6654702"/>
          <a:stretch xmlns:a="http://schemas.openxmlformats.org/drawingml/2006/main"/>
        </p:blipFill>
        <p:spPr>
          <a:xfrm xmlns:a="http://schemas.openxmlformats.org/drawingml/2006/main">
            <a:off x="6543675" y="1714500"/>
            <a:ext cx="4419600" cy="3314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001E6-23B4-4F55-8EA6-5EB920E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19725"/>
            <a:ext cx="60769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473FC-EDE0-4470-BED5-4D63637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721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Explicit exclusion: LIWANAG does not provide power during a brownout; anti-islanding shuts the system off.</a:t>
            </a:r>
          </a:p>
        </p:txBody>
      </p:sp>
    </p:spTree>
    <p:extLst>
      <p:ext uri="{BB962C8B-B14F-4D97-AF65-F5344CB8AC3E}">
        <p14:creationId xmlns:p14="http://schemas.microsoft.com/office/powerpoint/2010/main" val="3113549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065F8-E3E6-4BE9-9EC1-912F3DC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72F6C-C79F-4E6A-90F2-F63AF9DA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AE0CF-C59A-4F9D-84EC-DC60A3B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C77D6-7470-4C92-AF7C-48AF629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A5BC7-2465-4A24-A395-FA94ECA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C09CC-448E-42E7-8C24-03201422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4C705-CEC3-4041-9A4D-177F9450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Costing starts with the margin ceiling, not supplier totals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DED2C-0AA3-4C8A-B500-DE9F4044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Strategic 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4C4F8-9917-4E60-BF7B-439EDCF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467C5-805E-4EEC-A539-C053C68D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Target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FF1B9-F123-49F9-87EC-3C5BEA11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37317-4C41-490A-ADEF-CAB204B8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Maximum delivered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5D24F-ECC2-442B-8853-6B0B4941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091D1-439C-4BFA-9A60-653C4CAC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43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BOM + scope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1F817-130B-4F7F-A21C-FDFE8A55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AF3F8-8482-48F9-8B75-7FF5AFF0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₱99,500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AF388-6140-4D9A-982F-F6D9D496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Planning price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C8121-A92D-43DA-B5C9-ADEF61D1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market-facing constraint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1D7CE-00F7-4F44-BD6B-08867D89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60673-26AE-4AD5-8ED8-C52854E6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₱69,650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19619-A0A0-4FA7-9630-06E2CE87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Target cost ceiling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74BDB-DC13-4EAA-A95D-5E9DE665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At 30% target gross margin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56107-8540-49E2-8D83-CFE29EC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7D96F-8782-416F-8621-0005A4D3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₱74,000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5B043-A202-464C-904C-73390093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Expected cost today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61AEC-C302-42D2-B179-552D7F90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Current Founder Lab default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4DB43A-5463-4889-ABCF-E6B63EEE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1391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E5BED-FA77-469F-9B2A-A28FD86B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₱4,350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6649E-B7E7-48C2-A65D-3F202732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62525"/>
            <a:ext cx="636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cost gap to close before a 30% gross-margin target is credible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0E6B6-B006-4C56-9ED6-2FE07993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14900"/>
            <a:ext cx="2647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Negotiate, simplify, or re-scope — do not hide the gap in the quote.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0A1D4-D4F8-4475-9799-9E511081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Planning hypothesis: replace every cost with current supplier, freight, labor, permit, contingency, and warranty-reserve quotes before customer use.</a:t>
            </a:r>
          </a:p>
        </p:txBody>
      </p:sp>
    </p:spTree>
    <p:extLst>
      <p:ext uri="{BB962C8B-B14F-4D97-AF65-F5344CB8AC3E}">
        <p14:creationId xmlns:p14="http://schemas.microsoft.com/office/powerpoint/2010/main" val="5793501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03CF3-C5CB-4EA1-9DC2-AC6AD553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FA05-1549-47D7-925D-7E404C93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A1D41-5A31-4FAA-8F5A-4E3549D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21CCB-4A0B-40D7-BA26-09337F17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239E4-CAD6-46AC-90BF-828B78EE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C8DA1-F61F-41A3-BCCC-04FF9102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E6FA3-0B6C-478C-99CD-252E9E93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Pricing is a market decision — then a design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1B7B7-FC4A-4EC7-A34A-BFF7ED91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2A053-F908-4E06-8B0E-051F0894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1. Find the corridor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FAFC7-DF8A-4D30-A648-685A92B8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Anchor against what customers already pay or tolerate: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keep paying Meralco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genset / UPS plus running cost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established installer at ₱150k+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marketplace kit + freelance electrician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7845A-A85B-4765-9B82-B3B3A0BC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F0E4A-697D-450B-B96C-A57A9383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2. Set the strategic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6CEB6-414E-40F2-B9CF-110F2B0E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Use ₱99,500 as a test inside the ₱80k–₱100k mass corridor. Every price appears beside the outcome: projected monthly savings for LIWANAG.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Reason why we cost less: fixed package, standardized BOM, no showroom.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02492-C23F-407D-BF50-34702C95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A0E16-64B7-4393-A417-C9B666D1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3. Protect the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89C32-C68D-442E-A36E-52B19AAE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Ask for a real commitment at the real price. Repeated stalls trigger a positioning review before a discount.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 front-end discount is not allowed until a back-end path is evidenced and the test is pre-registered.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EFED4-9F2E-4D77-A946-CB2E050D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6F7C4-D810-48EE-A066-7400B48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3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Price first → target margin → maximum cost → package design. Cost-plus reverses the strategy.</a:t>
            </a:r>
          </a:p>
        </p:txBody>
      </p:sp>
    </p:spTree>
    <p:extLst>
      <p:ext uri="{BB962C8B-B14F-4D97-AF65-F5344CB8AC3E}">
        <p14:creationId xmlns:p14="http://schemas.microsoft.com/office/powerpoint/2010/main" val="6088663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6503A-5968-452B-A32A-114331AA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CB4BA-0D03-43FC-9544-13B3A5E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4C7A1-2871-492B-8500-C9769B83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39F3F-AA5D-45E6-9B2E-4241BA4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98D4-1569-44A6-B62E-3A2EEC0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FF48A-8A12-43F3-A507-800FAB4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B22C3-9569-4923-96C1-7F03E230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Positioning makes a lower price credible, not suspicious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F5C8C-4069-4DD2-86E2-81DF228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9226F-7C86-46C6-AC5F-4BAD8A8C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782D7-00E2-4841-B7D2-EA917EAD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668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homeowners in named areas with stable grid and roughly ₱8k–₱15k bills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EDFC1-87C7-46B0-BA51-783742D2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SOLAR CITY 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16BAA-D088-42F7-A174-FDA1DBD3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fixed-price, installed home-solar package inside the ₱80k–₱100k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94505-A3AC-48BA-967E-D1BC0C09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BECAUSE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B0505-4DCC-4D77-BD92-F8BC613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52675"/>
            <a:ext cx="9858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 standardize scope and BOM, remove showroom overhead, and document every milestone.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D4899-966A-4E02-A8E5-ED01803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four real alternatives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CB123-944C-4405-B0C6-40553884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546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What our position must resolve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E5F5D-680B-4093-8BBA-D1524FA0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95CE6-8009-4139-A165-16A1510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81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Do nothing / Meralco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1154F-5B96-415B-BD85-FF4830E1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337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6A431-2CD4-48CE-8FB7-45E93AE8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Show a transparent bill-based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39BDF-C7F6-4525-8AC3-893842AB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15045-5BE0-455B-B294-6141C6DA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0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Genset or UPS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B1ABB-81F1-4F07-B7B6-8B5724C7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624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32E93-B7E6-48F4-8BE2-6A1A91FC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719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State clearly: LIWANAG solves bill pain, not backup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85F04-FD94-456A-8EB8-12E92E7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2FEC1-A7CD-4674-89F9-761D31EE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38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Established installer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EC365E-3F13-4423-9079-5A395C48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910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2D83F-B03F-4B46-BC17-5652043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Explain the fixed-package, no-showroom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4B907-4234-47F7-877D-BFBB2E8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D3476-B9DB-4E9A-9518-4B2ADDC2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67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DIY marketplace kit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25CE0-9625-4F9F-8D13-D1C6308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197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3EB95-4D13-4E90-9E5E-A7AA6952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Win on safety, permits, warranty, accountability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FB4FE-9F3B-42DC-B9D6-B9D252F7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5467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CA2D05-5FE2-4B0A-91E1-41CCC6FD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861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9D8DAB-FB8D-4C60-9548-1697910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Fixed-price installed home solar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D1C094-5F44-4A06-A07C-B28FC2EE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DIFFERENCE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5B721C-FB83-421E-9C7B-6100F33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33925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4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Clarity + standardization + local accountability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E4EC43-0BD7-4F74-A852-E1A8A83C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054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E15C1A-AC3D-4B1A-8BFF-088B0B6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Rising bills and scam fatigue — after the visitor understands the category.</a:t>
            </a:r>
          </a:p>
        </p:txBody>
      </p:sp>
    </p:spTree>
    <p:extLst>
      <p:ext uri="{BB962C8B-B14F-4D97-AF65-F5344CB8AC3E}">
        <p14:creationId xmlns:p14="http://schemas.microsoft.com/office/powerpoint/2010/main" val="12874003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2B725-D34D-4F9A-8E3B-C681162F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7A3BC-839C-45A9-A13F-F22D769A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0D92-951A-418C-84C8-34078A4E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BLUE OCEAN / ERRC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9E6A8-25EE-4BA1-A6C4-72A5860D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50C65-F017-48CA-BE7C-8FB4B386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EF34A-8845-47F7-A9FA-C0DEF897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83503-1255-4F75-A429-678DE52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Blue Ocean means changing the value curve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32EF7-BFB6-4B95-A7C6-C8238D23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A7BF6-894A-407E-B4A5-3B278E0E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ELIMINATE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0EB71-C465-4CE7-831A-E4AC984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Confusing menus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Hidden extras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Unverified savings claims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Spec-first selling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ED8A1-DC05-4695-BA6B-81199C40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183CE-B7F8-4D53-8F64-ADC4215D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02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REDUCE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BEE95-3E33-4DCB-A42F-FEEA8202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812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Custom engineering before qualification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Showroom overhead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Inventory breadth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Geographic sprawl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F6388-CB2B-4EB8-AB37-D50D154D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12CD4-52D6-4202-84B2-484A25D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RAISE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3D240-8683-4828-9D7F-35FBFF8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Price and scope transparency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Documentation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Engineered safety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Local service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A630A-3D4B-48B8-B586-8683B12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671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9C73E-2B2A-4A71-B295-760015AE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957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FC76E-F16E-402E-BCBC-283D7340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767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Same-day bill / roof estimate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Fixed-scope package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Milestone updates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Explicit brownout disclosure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0BCD3-D282-43CC-AE3C-C69FFBC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7352D-DC51-4CFF-97C4-BBB1695B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TABLE STAKES STAY: certified hardware · honored warranty · typhoon-rated mounting · permits · electrical safety</a:t>
            </a:r>
          </a:p>
        </p:txBody>
      </p:sp>
    </p:spTree>
    <p:extLst>
      <p:ext uri="{BB962C8B-B14F-4D97-AF65-F5344CB8AC3E}">
        <p14:creationId xmlns:p14="http://schemas.microsoft.com/office/powerpoint/2010/main" val="19522460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6B71F-4C5E-4A80-8EC9-6293DDA9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1FD59-CAC0-43C2-8E0F-5E18CDB6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13F64-BCAB-4878-A764-2123A9FA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BRANDING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6A96A-144B-44CD-BF91-3A39A3E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4E218-0D3C-423A-A139-5CD090EE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B9A3D-2B3A-4BF8-94DD-9CBCB64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14C63-2138-4363-B30A-76CD8D0C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brand is the promise we can consistently 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35188-C00E-4C56-9580-28D1D8C1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952750" cy="40195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f65608d5a4f14"/>
          <a:stretch xmlns:a="http://schemas.openxmlformats.org/drawingml/2006/main"/>
        </p:blipFill>
        <p:spPr>
          <a:xfrm xmlns:a="http://schemas.openxmlformats.org/drawingml/2006/main">
            <a:off x="742950" y="1885950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4A7CA-0E33-41DC-92C4-1C17AF19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2343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SOLAR 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B2834-99B3-41BF-B574-90AF8964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 practical home-energy offer from a locally accountable engineering company.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01DD2-B4FF-40E7-B3FC-A596AE21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62100"/>
            <a:ext cx="3810000" cy="40195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0DA2A-4F9F-4273-9309-348C375E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238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Four promises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AF220-8769-410C-9B4F-FCD2DED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52675"/>
            <a:ext cx="3238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01  Honest scope and numbers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02  Engineered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03  Local accountability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04  Clear progress from survey to energized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12666-0522-4DD6-94C7-5FF5A87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943350" cy="40195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048CF-6866-49FD-B0F0-03BF539E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Never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758A2-65A2-4331-B3AE-AA6A63EA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fabricated testimonials or install counts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LIWANAG backup during brownouts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savings without a bill-based 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“all-in” while hiding exclusions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2345D-840C-4A5C-857E-EEF521DE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9D659-B461-4781-8712-869DAF9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10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Package names translate jobs — LIWANAG: lower bills · ILAW: essential backup · SANDIGAN: hybrid resilience</a:t>
            </a:r>
          </a:p>
        </p:txBody>
      </p:sp>
    </p:spTree>
    <p:extLst>
      <p:ext uri="{BB962C8B-B14F-4D97-AF65-F5344CB8AC3E}">
        <p14:creationId xmlns:p14="http://schemas.microsoft.com/office/powerpoint/2010/main" val="2096095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6E3770-9364-43F1-8761-37C348D5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E2605-CD07-4AE7-9238-55F592D7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560DA-DF28-444B-9B6B-CCAD698C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7440F-B1A5-4F3B-B160-E8BE66F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65360-75C1-41CB-99A8-461EF5D1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53A88-5445-4D49-8A56-65D9783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06F02-4320-413C-A227-400867DF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Marketing is a measured path to a deposit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6C9A4-E8B9-4A6B-80AE-7ADCF974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Copy the proven channel mechanics; diverge on the promise. Instrument every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EA132-2DB4-43D9-A62F-5235FF1F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D242B-4858-43F7-94B2-5FDAB553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FF38B-5037-40BD-ACB4-75F78A5F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B9189-931B-4300-960A-CEDC9FC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67460-3631-4840-B90A-52EBF0C5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22304-F169-4A4A-8B81-0D242C6C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997AC-7EA2-4C54-B99B-924242F4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CALCULATOR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0AA9E-99BF-4376-83D6-762879EA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A1B12-A030-41BE-ADE5-A3685B46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7A3E8-45F0-4437-B1A9-DACB3E21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574F2-B085-4832-AFA9-C63198E3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C3A11-AE46-47CB-BF48-E33C961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BB3CD-3415-4266-A81B-CD053062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F90E4-1945-4631-AB74-D9B81B2C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32532-59E8-4615-91CB-AF21D23E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REPLY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532A6-BD90-46E0-8E74-BD3E943F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D511F-A0D9-446B-B5E9-78DE071C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EE13A-8069-4CCA-BBDE-7A27E412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1D9F4-F7D0-4C19-BE12-8F545DAB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SURVEY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0C84D-D547-4297-A2ED-2AFE0DE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50E6E6-7C3A-4A4B-865E-DB0AAFC9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4ED61-F42C-4AC4-AF55-14DD8A8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48E3E-6A73-4C93-8EFA-1CDA318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DEPOSIT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071B1-0EAE-41F6-9C70-B90A7923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54673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BBF653-BAA5-46D9-A3F3-F6A4B72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Start where trust is visible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2BE85-F8E9-4DE4-B908-5B24D6D5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5010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three named subdivisions / barangays and their exact Facebook groups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direct founder selling and Messenger follow-up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HOA / barangay demo events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photographed handovers and neighbor referrals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CFE80-5BD1-4970-A549-6FD76B58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54673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39B24E-B2D0-45B9-985C-72654B82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Run bounded channel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7DF73-7DE3-4798-91C4-0084E001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5010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Max 3 concurrent tests · ≤₱12k · ≤3 weeks · pre-registered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ad peso until lead delivery, UTM attribution, and stage events work. Do not scale until at least 2 leads pay a real deposit at the real price.</a:t>
            </a:r>
          </a:p>
        </p:txBody>
      </p:sp>
    </p:spTree>
    <p:extLst>
      <p:ext uri="{BB962C8B-B14F-4D97-AF65-F5344CB8AC3E}">
        <p14:creationId xmlns:p14="http://schemas.microsoft.com/office/powerpoint/2010/main" val="1402925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22949-A121-47BB-A01E-BA95C9E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6E20F-3ABE-4C59-92F5-78CA818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B2BA2-7CAC-4CC4-892F-72157F66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PRODUCT–MARKET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9834D-7C89-4862-90D9-594F11AE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39C43-C2BF-43E9-9E80-4CF56B71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13E25-A688-4163-A28C-604F7C4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4B0F0-2575-4DD6-8D75-F0FCD67E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8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Product–market fit is repeated paid behavior with viable economics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8106B-3408-49BD-BF25-58B38F49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 do not claim PMF yet. We look for a pattern, not a feeling.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789D7-B7D3-4E12-AFCF-3CDDDFD6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F3B76-44E9-46E3-BF98-AF305923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STAGE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785D2-7E1B-4607-91CD-34CE5F1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212AF-A358-48AF-8EC1-2BD704E1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Founders hear past-specific homeowner stories, learn the real alternatives, and map the same recurring pain in a narrow segment.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ADA79-8890-403D-A3FC-1FF4E23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2F016-1BAD-4065-A867-D1554082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STAGE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FF787-EE50-4F47-B5F7-EF138654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598E3-D099-4699-9C5C-A5DB53C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Best-fit buyers book surveys and pay deposits at the real ₱99,500 test price. The target cost is reachable without hiding scope or safety.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5B06C-EB71-429B-9565-FF7FFDEE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A182-E9FC-47D6-B8C0-8EC71EBA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STAGE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8557B-0FF2-42C0-BED8-EF00C54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CE759-9BA4-4DD5-9A3C-6D5573A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Sales, installs, and referrals repeat without heroic customization. Buyers describe the same value, and the channel economics remain healthy.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5F012-5331-4208-94DF-A814A23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13919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29535-6C00-4DFC-8FF1-CDD5DA0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NOT PMF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B3C53-3923-4BBC-8660-9DA402F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810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comments · compliments · cheap leads · one customized sale · a beautiful deck or app</a:t>
            </a:r>
          </a:p>
        </p:txBody>
      </p:sp>
    </p:spTree>
    <p:extLst>
      <p:ext uri="{BB962C8B-B14F-4D97-AF65-F5344CB8AC3E}">
        <p14:creationId xmlns:p14="http://schemas.microsoft.com/office/powerpoint/2010/main" val="86923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0A8CC-7FDF-4649-AC06-1D446935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96E73-13E0-4648-9825-13F470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F8F43-7632-47B1-8868-A690808A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CREATING CULTURE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A113D-678E-49D6-AE8F-E5A97236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BBE8E-FD4B-48FC-87B4-899A4A71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464B2-617C-4A02-A867-7C9DA88C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918AE-88BD-44D0-B529-D885F2A3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Culture is the operating system we use under pressure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66715-C132-41CC-96CB-F81FFC2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4F1A5-833D-41FB-9E55-BFDFB4E9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CUSTOMER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48CB9-F42B-46C1-AFB7-23760A5C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Ask about the past. Count commitments. Write interviews within 24 hours.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C8B4F-2749-4917-A41D-E89839DE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52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BF107-2D79-4E1C-B085-294E8860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SAFETY + HONESTY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370DB-C2A4-4DE1-9F29-55A1747B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No fabricated proof, hidden scope, legal shortcuts, or backup claims for LIWANAG.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25DE8-0321-4E81-A5B3-8B5115E1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B7329-0C7D-4AA1-BA0F-0ED85D8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SPEED WITH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8A355-7C77-4B16-A503-E7ADCFA5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Fire reversible tests quickly. Stop at safety, legal, cash, and evidence gates.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D79A8-895D-4BEA-8C5C-20DE7851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57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44B0C-F2B4-4558-A3B8-2A2C69A5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OWNERSHIP WITHOUT EGO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CE23D-8C21-46BC-AC72-DA4700CE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Named pilot, public T5T, blunt postmortems, and company-first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63CBA-049C-48C1-BD23-F805DFAF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B2198-FA49-44B7-8503-E4EF4F96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WEEKLY CADENCE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64037-73FD-4050-8B35-18C5662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9239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≥1 customer-facing action + ≥1 homeowner story · Friday T5T + traction/product hours · Analyze → Ask → Act on one metric</a:t>
            </a:r>
          </a:p>
        </p:txBody>
      </p:sp>
    </p:spTree>
    <p:extLst>
      <p:ext uri="{BB962C8B-B14F-4D97-AF65-F5344CB8AC3E}">
        <p14:creationId xmlns:p14="http://schemas.microsoft.com/office/powerpoint/2010/main" val="11744290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A1D59-7F5C-4666-A066-06002D9E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74400-9C93-4BDA-B6FD-D8191C29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71A20-3140-4B04-B633-6FB1169D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FOUNDER ACTION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8A58A-B8B5-469C-8B4A-485167FC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04B79-E365-4AB0-8830-62CDBA81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2CF49-2E20-41F7-B107-DDC8DC4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F987D-B4EE-4228-AFB7-0320CE18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3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next 30 days should produce evidence, not more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6E8A9-171A-496F-9849-2DEE05D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54028-FBFE-4B76-A5FC-09610845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43C20-970A-4893-9DB8-6DC076F3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ALIGN + INSTRUMENT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5D0A1-53E9-4E94-B8C8-A9DB6CB3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Choose launch area and owners. Verify lead delivery, UTM, and funnel events. Open the operating ledger.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CAF82-60AB-4413-A2CC-3300E12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5EA17-0B1D-4925-AF41-2A99E131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7E9B2-BE1E-495E-A69A-1D7C0571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28AC7-ED0B-4268-909C-66327D2A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DISCOVER +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D1902-1560-4B02-B3E6-BC1EE15D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Record three past-specific homeowner stories. Replace planning costs with current supplier and installer quotes.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07260-F523-4D8E-8AD9-2A4B8859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1E523-A111-4D6D-BF08-DC357EA9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60E68-91F1-4CFA-B9CA-14E1F739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A7D95-4DE8-4764-991D-77F1F707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FIRE THE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1256A-143F-4C31-8622-B580ACD7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Pre-register one channel test. Put LIWANAG at the real price in front of real homeowners. Book surveys.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44935-5622-49E4-BBE6-AB1A2B7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F118F-0754-4E5F-BCC1-3F098AED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62129-DADB-49F3-953B-CA6DE94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05E91-1498-4207-87B9-52C8BF42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LEARN + 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EAD00-08AF-427C-A79F-8AA8012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Ask lost leads why. Report stage conversions and deposits. Change exactly one message, scope, or channel variable.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C0815-E2D6-41EE-B998-3C6612F6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914CD-9AB6-4B2C-927F-A2C3248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THREE DECISIONS TO LEAVE THIS MEETING WITH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8A7E0-85F2-4C7C-AAD2-61C095A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1  Launch subdivision / group     2  Target gross-margin floor     3  Owners: customer · offer/pricing · install/technical</a:t>
            </a:r>
          </a:p>
        </p:txBody>
      </p:sp>
    </p:spTree>
    <p:extLst>
      <p:ext uri="{BB962C8B-B14F-4D97-AF65-F5344CB8AC3E}">
        <p14:creationId xmlns:p14="http://schemas.microsoft.com/office/powerpoint/2010/main" val="19602932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15D3B-2D13-442B-8923-E8EF0C2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9EF0E-E1D5-41D4-B642-E91C52D0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64857-3634-4719-B580-FB2AB68F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893C9-E2D0-465D-B9A7-66B5B97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D"/>
          </a:solidFill>
          <a:ln xmlns:a="http://schemas.openxmlformats.org/drawingml/2006/main" w="0">
            <a:solidFill>
              <a:srgbClr val="3151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0A312-1EC8-4566-A709-F678747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rPr>
              <a:t>SOLAR CITY · FOUNDER STRATEGY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18652-BA5E-4281-8E97-B6921A26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B9C1F-AC97-4A38-9A5A-FDD11483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SOLAR 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5033A-6775-4758-ADA2-4387520E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429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Align on the test.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Then put it in front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 homeowners.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36E42-34DE-416E-9876-43CE9E8A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8A841-C29B-4A36-9C02-BDEA32A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695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4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9E4EC"/>
                </a:solidFill>
                <a:latin typeface="Helvetica Neue"/>
                <a:ea typeface="Helvetica Neue"/>
                <a:cs typeface="Helvetica Neue"/>
              </a:rPr>
              <a:t>The next proof is not another page. It is a booked survey, a paid deposit, and a safe install at viable margin.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4BFCD-EE2D-4C5E-B868-2D9BE087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194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AC141-9BC5-4C75-A1F7-825FA863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2152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D11F7-AAB5-4A87-ABC4-A34809E9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PAID INSTALLS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4CBA6-A81B-442D-9DBC-EE9B67C1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147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BY 9 OCT 2026</a:t>
            </a:r>
          </a:p>
        </p:txBody>
      </p:sp>
    </p:spTree>
    <p:extLst>
      <p:ext uri="{BB962C8B-B14F-4D97-AF65-F5344CB8AC3E}">
        <p14:creationId xmlns:p14="http://schemas.microsoft.com/office/powerpoint/2010/main" val="1612212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2026-07-16T12:09:09.6820000Z</dcterms:created>
  <dcterms:modified xsi:type="dcterms:W3CDTF">2026-07-16T12:09:09.6820000Z</dcterms:modified>
</coreProperties>
</file>