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338dbf785d4440" /><Relationship Type="http://schemas.openxmlformats.org/officeDocument/2006/relationships/extended-properties" Target="/docProps/app.xml" Id="R129b25de59cc49d0" /><Relationship Type="http://schemas.openxmlformats.org/officeDocument/2006/relationships/officeDocument" Target="/ppt/presentation.xml" Id="R05c2bfe334f64e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09f95d3d504003"/>
  </p:sldMasterIdLst>
  <p:notesMasterIdLst>
    <p:notesMasterId xmlns:r="http://schemas.openxmlformats.org/officeDocument/2006/relationships" r:id="R3c140282722b4def"/>
  </p:notesMasterIdLst>
  <p:sldIdLst>
    <p:sldId xmlns:r="http://schemas.openxmlformats.org/officeDocument/2006/relationships" id="256" r:id="Rbee94bb15abe4cad"/>
    <p:sldId xmlns:r="http://schemas.openxmlformats.org/officeDocument/2006/relationships" id="257" r:id="R8a5c6e67b09f475b"/>
    <p:sldId xmlns:r="http://schemas.openxmlformats.org/officeDocument/2006/relationships" id="258" r:id="R64e239fc68824356"/>
    <p:sldId xmlns:r="http://schemas.openxmlformats.org/officeDocument/2006/relationships" id="259" r:id="R2376f90a687143b6"/>
    <p:sldId xmlns:r="http://schemas.openxmlformats.org/officeDocument/2006/relationships" id="260" r:id="R68856e21b56d4d5d"/>
    <p:sldId xmlns:r="http://schemas.openxmlformats.org/officeDocument/2006/relationships" id="261" r:id="Rb62b91fc2af948ca"/>
    <p:sldId xmlns:r="http://schemas.openxmlformats.org/officeDocument/2006/relationships" id="262" r:id="R130a87e0b12b4626"/>
    <p:sldId xmlns:r="http://schemas.openxmlformats.org/officeDocument/2006/relationships" id="263" r:id="R41fbf5d611604c74"/>
    <p:sldId xmlns:r="http://schemas.openxmlformats.org/officeDocument/2006/relationships" id="264" r:id="Rffb45139a65547b7"/>
    <p:sldId xmlns:r="http://schemas.openxmlformats.org/officeDocument/2006/relationships" id="265" r:id="R64daef9394b344a9"/>
    <p:sldId xmlns:r="http://schemas.openxmlformats.org/officeDocument/2006/relationships" id="266" r:id="R87b52e78ba3b4118"/>
    <p:sldId xmlns:r="http://schemas.openxmlformats.org/officeDocument/2006/relationships" id="267" r:id="Rf297e8805f3f4a70"/>
    <p:sldId xmlns:r="http://schemas.openxmlformats.org/officeDocument/2006/relationships" id="268" r:id="Rd6ad1feecb074a5c"/>
    <p:sldId xmlns:r="http://schemas.openxmlformats.org/officeDocument/2006/relationships" id="269" r:id="R8506ca6f6a63450f"/>
    <p:sldId xmlns:r="http://schemas.openxmlformats.org/officeDocument/2006/relationships" id="270" r:id="Rb4fc2534700d48f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5be5af071a43f6" /><Relationship Type="http://schemas.openxmlformats.org/officeDocument/2006/relationships/slideMaster" Target="/ppt/slideMasters/slideMaster1.xml" Id="R5409f95d3d504003" /><Relationship Type="http://schemas.openxmlformats.org/officeDocument/2006/relationships/notesMaster" Target="/ppt/notesMasters/notesMaster1.xml" Id="R3c140282722b4def" /><Relationship Type="http://schemas.openxmlformats.org/officeDocument/2006/relationships/presProps" Target="/ppt/presProps.xml" Id="R82a90cbe53054169" /><Relationship Type="http://schemas.openxmlformats.org/officeDocument/2006/relationships/tableStyles" Target="/ppt/tableStyles.xml" Id="R5c21d5783e03446d" /><Relationship Type="http://schemas.openxmlformats.org/officeDocument/2006/relationships/slide" Target="/ppt/slides/slide1.xml" Id="Rbee94bb15abe4cad" /><Relationship Type="http://schemas.openxmlformats.org/officeDocument/2006/relationships/slide" Target="/ppt/slides/slide2.xml" Id="R8a5c6e67b09f475b" /><Relationship Type="http://schemas.openxmlformats.org/officeDocument/2006/relationships/slide" Target="/ppt/slides/slide3.xml" Id="R64e239fc68824356" /><Relationship Type="http://schemas.openxmlformats.org/officeDocument/2006/relationships/slide" Target="/ppt/slides/slide4.xml" Id="R2376f90a687143b6" /><Relationship Type="http://schemas.openxmlformats.org/officeDocument/2006/relationships/slide" Target="/ppt/slides/slide5.xml" Id="R68856e21b56d4d5d" /><Relationship Type="http://schemas.openxmlformats.org/officeDocument/2006/relationships/slide" Target="/ppt/slides/slide6.xml" Id="Rb62b91fc2af948ca" /><Relationship Type="http://schemas.openxmlformats.org/officeDocument/2006/relationships/slide" Target="/ppt/slides/slide7.xml" Id="R130a87e0b12b4626" /><Relationship Type="http://schemas.openxmlformats.org/officeDocument/2006/relationships/slide" Target="/ppt/slides/slide8.xml" Id="R41fbf5d611604c74" /><Relationship Type="http://schemas.openxmlformats.org/officeDocument/2006/relationships/slide" Target="/ppt/slides/slide9.xml" Id="Rffb45139a65547b7" /><Relationship Type="http://schemas.openxmlformats.org/officeDocument/2006/relationships/slide" Target="/ppt/slides/slide10.xml" Id="R64daef9394b344a9" /><Relationship Type="http://schemas.openxmlformats.org/officeDocument/2006/relationships/slide" Target="/ppt/slides/slide11.xml" Id="R87b52e78ba3b4118" /><Relationship Type="http://schemas.openxmlformats.org/officeDocument/2006/relationships/slide" Target="/ppt/slides/slide12.xml" Id="Rf297e8805f3f4a70" /><Relationship Type="http://schemas.openxmlformats.org/officeDocument/2006/relationships/slide" Target="/ppt/slides/slide13.xml" Id="Rd6ad1feecb074a5c" /><Relationship Type="http://schemas.openxmlformats.org/officeDocument/2006/relationships/slide" Target="/ppt/slides/slide14.xml" Id="R8506ca6f6a63450f" /><Relationship Type="http://schemas.openxmlformats.org/officeDocument/2006/relationships/slide" Target="/ppt/slides/slide15.xml" Id="Rb4fc2534700d48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b65bb16d3a47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5eb44049894fd1" /><Relationship Type="http://schemas.openxmlformats.org/officeDocument/2006/relationships/notesMaster" Target="/ppt/notesMasters/notesMaster1.xml" Id="R43547ea6207d46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60028438254ea9" /><Relationship Type="http://schemas.openxmlformats.org/officeDocument/2006/relationships/notesMaster" Target="/ppt/notesMasters/notesMaster1.xml" Id="R38ff1a9a178149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48debf4c1649f0" /><Relationship Type="http://schemas.openxmlformats.org/officeDocument/2006/relationships/notesMaster" Target="/ppt/notesMasters/notesMaster1.xml" Id="R7b934ebceaad46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e1b54203e0444e" /><Relationship Type="http://schemas.openxmlformats.org/officeDocument/2006/relationships/notesMaster" Target="/ppt/notesMasters/notesMaster1.xml" Id="R20384a55935047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63c424bb064894" /><Relationship Type="http://schemas.openxmlformats.org/officeDocument/2006/relationships/notesMaster" Target="/ppt/notesMasters/notesMaster1.xml" Id="R045595cab4e64a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30a29f5ecc4aac" /><Relationship Type="http://schemas.openxmlformats.org/officeDocument/2006/relationships/notesMaster" Target="/ppt/notesMasters/notesMaster1.xml" Id="R54bf703631d14b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cb41ae75f54148" /><Relationship Type="http://schemas.openxmlformats.org/officeDocument/2006/relationships/notesMaster" Target="/ppt/notesMasters/notesMaster1.xml" Id="R9e82279d36424d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def4fa19c94028" /><Relationship Type="http://schemas.openxmlformats.org/officeDocument/2006/relationships/notesMaster" Target="/ppt/notesMasters/notesMaster1.xml" Id="Raaf73f3c78374d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a39fb5d87b4872" /><Relationship Type="http://schemas.openxmlformats.org/officeDocument/2006/relationships/notesMaster" Target="/ppt/notesMasters/notesMaster1.xml" Id="R711aec5e233647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340b3b7d1b42b9" /><Relationship Type="http://schemas.openxmlformats.org/officeDocument/2006/relationships/notesMaster" Target="/ppt/notesMasters/notesMaster1.xml" Id="R3005e8be4d5242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c439db6c9d4768" /><Relationship Type="http://schemas.openxmlformats.org/officeDocument/2006/relationships/notesMaster" Target="/ppt/notesMasters/notesMaster1.xml" Id="R8ff5c662c0d24d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9d604c7d0d40e0" /><Relationship Type="http://schemas.openxmlformats.org/officeDocument/2006/relationships/notesMaster" Target="/ppt/notesMasters/notesMaster1.xml" Id="R4b743ac458c540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93101bcf894e06" /><Relationship Type="http://schemas.openxmlformats.org/officeDocument/2006/relationships/notesMaster" Target="/ppt/notesMasters/notesMaster1.xml" Id="R4b070f34916549f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a70cbf181554df3" /><Relationship Type="http://schemas.openxmlformats.org/officeDocument/2006/relationships/notesMaster" Target="/ppt/notesMasters/notesMaster1.xml" Id="R29747719462e443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1f49c356cdd4918" /><Relationship Type="http://schemas.openxmlformats.org/officeDocument/2006/relationships/notesMaster" Target="/ppt/notesMasters/notesMaster1.xml" Id="Re325db1ef0d446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7e4189edc64a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2f1a7504964fbb" /><Relationship Type="http://schemas.openxmlformats.org/officeDocument/2006/relationships/slideLayout" Target="/ppt/slideLayouts/slideLayout1.xml" Id="Rf8364df52fec47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364df52fec47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b37a77ab5423c" /><Relationship Type="http://schemas.openxmlformats.org/officeDocument/2006/relationships/image" Target="/ppt/media/image.png" Id="R50990d4db39e4ef0" /><Relationship Type="http://schemas.openxmlformats.org/officeDocument/2006/relationships/notesSlide" Target="/ppt/notesSlides/notesSlide1.xml" Id="Race9a3cfa4f647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d8739b127472b" /><Relationship Type="http://schemas.openxmlformats.org/officeDocument/2006/relationships/notesSlide" Target="/ppt/notesSlides/notesSlide2.xml" Id="R59973fe1f2bb4d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a9495ea644f38" /><Relationship Type="http://schemas.openxmlformats.org/officeDocument/2006/relationships/notesSlide" Target="/ppt/notesSlides/notesSlide3.xml" Id="Rd265c88e8c4f48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a8740f64845d5" /><Relationship Type="http://schemas.openxmlformats.org/officeDocument/2006/relationships/notesSlide" Target="/ppt/notesSlides/notesSlide4.xml" Id="R39e59d4d445f43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d93e8e1ea4fd7" /><Relationship Type="http://schemas.openxmlformats.org/officeDocument/2006/relationships/image" Target="/ppt/media/image2.png" Id="R89694d4cedea4fc9" /><Relationship Type="http://schemas.openxmlformats.org/officeDocument/2006/relationships/notesSlide" Target="/ppt/notesSlides/notesSlide5.xml" Id="R1fb0f9075f2e48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f15809e9f4da8" /><Relationship Type="http://schemas.openxmlformats.org/officeDocument/2006/relationships/notesSlide" Target="/ppt/notesSlides/notesSlide6.xml" Id="Rb386db037d9049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0676094f74deb" /><Relationship Type="http://schemas.openxmlformats.org/officeDocument/2006/relationships/notesSlide" Target="/ppt/notesSlides/notesSlide7.xml" Id="Reca0ffba461046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b8506c31c44f8" /><Relationship Type="http://schemas.openxmlformats.org/officeDocument/2006/relationships/notesSlide" Target="/ppt/notesSlides/notesSlide8.xml" Id="R6a6101cc337c46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2221a24934189" /><Relationship Type="http://schemas.openxmlformats.org/officeDocument/2006/relationships/notesSlide" Target="/ppt/notesSlides/notesSlide9.xml" Id="R8a3cb3c50d4d42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e56e2b5f94048" /><Relationship Type="http://schemas.openxmlformats.org/officeDocument/2006/relationships/image" Target="/ppt/media/image3.png" Id="R59cdbd9b2017462b" /><Relationship Type="http://schemas.openxmlformats.org/officeDocument/2006/relationships/notesSlide" Target="/ppt/notesSlides/notesSlide10.xml" Id="R62a3011a54ee40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1bc1e329f4b2a" /><Relationship Type="http://schemas.openxmlformats.org/officeDocument/2006/relationships/notesSlide" Target="/ppt/notesSlides/notesSlide11.xml" Id="Rb3e8a985f25546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329ffc9824cb6" /><Relationship Type="http://schemas.openxmlformats.org/officeDocument/2006/relationships/notesSlide" Target="/ppt/notesSlides/notesSlide12.xml" Id="R13288342d221471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227d506634330" /><Relationship Type="http://schemas.openxmlformats.org/officeDocument/2006/relationships/notesSlide" Target="/ppt/notesSlides/notesSlide13.xml" Id="R7174b973cdab470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a3c9c071d4da6" /><Relationship Type="http://schemas.openxmlformats.org/officeDocument/2006/relationships/notesSlide" Target="/ppt/notesSlides/notesSlide14.xml" Id="R24bc3416e740424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a4a274f7c4e09" /><Relationship Type="http://schemas.openxmlformats.org/officeDocument/2006/relationships/notesSlide" Target="/ppt/notesSlides/notesSlide15.xml" Id="Rbae92b1d88c14c0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CA457-B687-4DFE-BB9E-D3E2FADD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A6276-BCE7-434C-9B7D-C23484D8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COFOUNDER ALIGNMENT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D927B-A2C9-43D8-9455-DD23FDD6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4C60E-3EDD-4EF3-99A4-71FE56B9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CC3D7-2317-467A-9BF0-79757B4B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2B414-DE34-45C6-A59F-37AD53AC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7EF10-B2D5-4462-A759-5BADB3B2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6096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8FE2B-3CC8-4957-B72B-6A8BE4D9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MACC SYSTEMS &amp; ENGINEERING INC.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B4232-3F94-4D55-91E4-6C28638E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SOLAR CITY FOUNDER STRATEGY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8C87A-C6F5-4003-9108-9A79C990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52197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How we will find</a:t>
            </a:r>
          </a:p>
          <a:p xmlns:a="http://schemas.openxmlformats.org/drawingml/2006/main">
            <a:pPr algn="l">
              <a:defRPr sz="4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our first repeatable sale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16B6C-14FF-474C-9647-47497B62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51911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Costing · positioning · pricing · marketing · branding · culture · product–market fit · MVP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77299-CBE3-4E9C-8DD6-39B1288E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52197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73FD9F-9C13-4F9E-B91F-16BFABD5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96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Working strategy for founder decisions — not a claim that the market is already proven.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75AA7-8FB0-4E91-A149-9C190E3E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14300"/>
            <a:ext cx="6096000" cy="601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90d4db39e4ef0"/>
          <a:srcRect xmlns:a="http://schemas.openxmlformats.org/drawingml/2006/main" l="18296" t="0" r="182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352425"/>
            <a:ext cx="5619750" cy="5543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5620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9F8256-2663-461C-8C8F-D1A63CBC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13D5A-8293-4345-8ACE-26C581BA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E4536-C93D-4479-A903-38F2DA83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NORTH STAR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ED89F-E44E-4A05-9297-3CB2639C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C607F-2178-479F-8C9C-DBC45A55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3723A-F103-4046-A41F-7E47A484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D6624-8883-4AFC-87C7-288686FA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One outcome governs every 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67B62-C370-49AF-8362-B53671F8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0858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E13FB-0163-42A8-B4DC-CDC979D4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90675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MISSION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D35AA-182A-48ED-8728-1EA7DEE0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9DDEB7-5772-4893-893D-893853C5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00250"/>
            <a:ext cx="3667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paid ₱99,500 installs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81B10-61F5-41B5-A450-E7C4DE48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38425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Deposits banked — not promised — by 9 October 2026.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C2300-CF3D-4DC1-85EA-A917F099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33775"/>
            <a:ext cx="53149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F25D24-5DE3-4B58-9082-F5EDE465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The evidence standard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DB408B-8D63-459A-A374-8E3CAB19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47625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Count: lead submissions · booked surveys · paid deposits · signed contracts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Do not count: likes · comments · compliments · “my friend is interested”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36717-2317-41D3-967F-606D42EB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46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Every activity must move a buyer one step closer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B077E7-6C54-4A32-9CD0-C6D688AF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5467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18672-5477-4BE1-A8B3-E5DAAC8E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8122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DA35F2-E7DA-4899-85C0-C41F34E8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669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0405E1-003F-46D4-B858-8173E92B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1885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Homeowner 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0C1EFA-E783-44CB-92DB-0224EC6E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0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Past behavior and prior spend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B9B317-F136-47FC-85A0-6FB70F9F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05125"/>
            <a:ext cx="5467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4282C5-9314-4D87-BFBD-A6D6D288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480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16EFFF-A4E8-4697-A8B5-C0CF5A4F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337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A043AE-BBE6-45C7-969A-2463687E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38475"/>
            <a:ext cx="1885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Qualified lead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2A44D6-0B85-4367-AC82-77644EBB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57525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Fit, bill, roof, location, alternative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271E16-0991-4A76-BFB4-A14565FC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71900"/>
            <a:ext cx="5467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3F2639-762B-4EA8-88B9-9BAA856C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147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EB7B15-72E9-4701-8499-004A5196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005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E4808A-E423-44FE-BF07-E636332B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05250"/>
            <a:ext cx="1885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Site survey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62483D-A955-4AF7-B6AE-76C6AF34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24300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Time committed to a real assessment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BA91A8-553C-49A4-9B07-EF80FDDD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38675"/>
            <a:ext cx="5467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EAF7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EE4E42-971B-4478-B387-DCA2FE17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815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427664-4221-4135-A8D4-EF84C08B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672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E57117-C8AF-4864-B90C-A2B149EE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772025"/>
            <a:ext cx="1885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Paid deposit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6A8415-1408-41BE-A8A8-77933902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91075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The strongest pre-install evidence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91A23C-E17A-4CD3-8411-106A5AF5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29275"/>
            <a:ext cx="5467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solidFill>
              <a:srgbClr val="FFF0E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82BE3B-E854-4C2E-BB95-89DAE7AD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743575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81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Ledger gap: ops/status.md is missing, so planning figures remain hypotheses.</a:t>
            </a:r>
          </a:p>
        </p:txBody>
      </p:sp>
    </p:spTree>
    <p:extLst>
      <p:ext uri="{BB962C8B-B14F-4D97-AF65-F5344CB8AC3E}">
        <p14:creationId xmlns:p14="http://schemas.microsoft.com/office/powerpoint/2010/main" val="13737578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D4CED7-3640-40AF-A918-18DA92F9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0BC94-C8F0-44EC-811B-6A224D49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2C526-B302-4545-830E-77FDBC14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COMPANY STRATEGY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B5798-5014-4F89-BA55-75807CC6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DDEBF-5ED0-4280-8966-B3C5C2E6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173F9-7D79-40DE-A5BE-BD2A6F79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DA159-6889-476B-B4F6-FFDCBB79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Model B earns the right to build Model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12788-D4B5-4E2B-9A6B-ABF444E5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54673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5B04C-6A32-432C-81A4-DF51E99F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501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MODEL B · REVENUE ENGINE · 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A1A99-8F77-46E2-8556-25ABE68E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501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SOURCE + INSTALL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596C1-E5C9-42EF-9B8C-4032DCEA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19375"/>
            <a:ext cx="5010150" cy="282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Buy certified panels, inverters, and batteries. Standardize the design, install safely, and own the customer relationship.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Job now: learn how to sell, quote, deliver, and earn margin on a fixed package.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B82FD-6B9A-4227-B95F-ADD3C20F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54673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75A94-423A-40BF-AE36-2DABB999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71650"/>
            <a:ext cx="501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MODEL A · LONG-TERM MOAT · GATED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E3012E-DB36-430C-B020-9239C5A5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38350"/>
            <a:ext cx="501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BUILD OUR OWN MODULES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D0D9F2-5B8D-415C-86FC-C67ED6B9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19375"/>
            <a:ext cx="5010150" cy="282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Develop local manufacturing only where local warranty, service turnaround, Philippine field data, and trust create a defensible value network.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Job later: convert proven volume and margin into a manufacturing moat.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ED952A-3CAB-4357-85E2-01C92430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24400"/>
            <a:ext cx="50101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4C393-7B2F-4B42-BFDF-242DF6AC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577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UNLOCK ONLY AFTER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055C73-6CFE-4862-A798-38BF92F7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95875"/>
            <a:ext cx="455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5 paid installs + ₱400k banked Model B gross margin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429BB5-17B1-4666-9F52-C3C12B0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48350"/>
            <a:ext cx="11391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A99516-C29E-458D-A7CA-1D522200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13919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Until then: Model A stays inside the trainer cap — one founder-day/week, ≤40 cells, ≤₱20k per item.</a:t>
            </a:r>
          </a:p>
        </p:txBody>
      </p:sp>
    </p:spTree>
    <p:extLst>
      <p:ext uri="{BB962C8B-B14F-4D97-AF65-F5344CB8AC3E}">
        <p14:creationId xmlns:p14="http://schemas.microsoft.com/office/powerpoint/2010/main" val="10800086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AC8DC3-79E0-4855-A821-66B4BB25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A9C49-FB9F-4C99-BA05-DE304B7A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3C748-189D-43B3-9EDB-90BAE6EA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FOUNDER TEAM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47B83-0C68-48ED-8586-09FA4C57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0EEA5-13F0-47C0-889A-6801F002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EE1D9-BEAF-4C59-95F2-E8C1446F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57699-13CA-44B5-B9EA-EE57D74F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Four careers make one unusually complete team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0CB80-6E23-4239-9FE4-8100C65C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We have known one another since college. Our careers now cover product, electrical delivery, SaaS operations, and automation.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FC8CD-B18B-4343-AF08-4A43D8A1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71675"/>
            <a:ext cx="2657475" cy="3476625"/>
          </a:xfrm>
          <a:prstGeom xmlns:a="http://schemas.openxmlformats.org/drawingml/2006/main" prst="roundRect">
            <a:avLst>
              <a:gd name="adj" fmla="val 28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C3B70B-AB45-4773-AFEC-86B31316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2383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BENJIE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F190C-43FD-428E-90F6-7DF3AB33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238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PRODUCT + DIGITAL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AEFEEA-EC87-4C03-824B-BAC545B7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Software engineer · CTO, Channel Automation · based in Australia until December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F16BC-729E-4353-829C-F5C3094A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B1797-500D-4B61-A361-6D94C015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2238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Own the funnel, calculator, CRM, measurement, and the remote-to-Philippines transition plan.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40EC9B-E57D-4DB8-B5F1-0BDA29D1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971675"/>
            <a:ext cx="2657475" cy="3476625"/>
          </a:xfrm>
          <a:prstGeom xmlns:a="http://schemas.openxmlformats.org/drawingml/2006/main" prst="roundRect">
            <a:avLst>
              <a:gd name="adj" fmla="val 2867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solidFill>
              <a:srgbClr val="FFF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4104A8-0BA1-4608-A42D-12D2B190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200275"/>
            <a:ext cx="22383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JUNDHEL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FCFE08-9AFE-4D1F-9E9D-1F1FA47A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647950"/>
            <a:ext cx="2238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TECHNICAL DELIVERY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45EC6-6F5B-4571-8D3B-7B2B3C08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152775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Electrical engineer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63E42B-2B04-4E5C-B5A9-2E5BF21E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98145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FA7F46-E677-48F8-A684-45CC033E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191000"/>
            <a:ext cx="2238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Own electrical design, safety, site-survey standards, install quality, and technical supplier validation.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5EAA66-C669-4395-861F-5192421B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71675"/>
            <a:ext cx="2657475" cy="3476625"/>
          </a:xfrm>
          <a:prstGeom xmlns:a="http://schemas.openxmlformats.org/drawingml/2006/main" prst="roundRect">
            <a:avLst>
              <a:gd name="adj" fmla="val 286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D14928-0092-4684-8212-1EEDABDF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00275"/>
            <a:ext cx="22383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JETHRO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3B8984-DA6F-4D97-AA1E-7905A8A1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47950"/>
            <a:ext cx="2238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CUSTOMER + COMMERCIAL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D60050-D5D0-4F20-91DE-B5048C06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52775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SaaS owner · POS system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0EDC7A-952B-4A79-9A27-1E1E10EA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8145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19474B-84E9-4A24-A5C0-8A299BA6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91000"/>
            <a:ext cx="2238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Own customer conversations, sales process, pricing tests, and channel or partner operations.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F5DE49-6231-444C-9E36-706CC27C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971675"/>
            <a:ext cx="2657475" cy="3476625"/>
          </a:xfrm>
          <a:prstGeom xmlns:a="http://schemas.openxmlformats.org/drawingml/2006/main" prst="roundRect">
            <a:avLst>
              <a:gd name="adj" fmla="val 286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EAF7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A2E1E4-EA1C-41CC-B158-3B6307A2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200275"/>
            <a:ext cx="22383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DENVER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F3C607-CBCA-495B-91A1-8DAB456C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47950"/>
            <a:ext cx="2238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OPERATIONS + AUTOMATION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27A00C-4AEF-43B4-BCEB-C9C3D98A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52775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SaaS owner · POS system · software engineer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652803-248E-46A3-9E51-0AF3FDB1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98145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BC2F20-F8A7-416B-AC18-160557F5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91000"/>
            <a:ext cx="2238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Own unit-economics reporting, workflow automation, operating data, and internal tools.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288C95-5953-4E72-B18B-3C860CA7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391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062B4F"/>
          </a:solidFill>
          <a:ln xmlns:a="http://schemas.openxmlformats.org/drawingml/2006/main" w="0">
            <a:solidFill>
              <a:srgbClr val="062B4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B7BC86-1633-43DE-974A-E4690C58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Shared history is an advantage only when roles, decisions, and disagreements stay explicit. These are starting accountabilities — not permanent titles.</a:t>
            </a:r>
          </a:p>
        </p:txBody>
      </p:sp>
    </p:spTree>
    <p:extLst>
      <p:ext uri="{BB962C8B-B14F-4D97-AF65-F5344CB8AC3E}">
        <p14:creationId xmlns:p14="http://schemas.microsoft.com/office/powerpoint/2010/main" val="4278377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97B969-691B-4B37-8818-9709FB2A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C55D5-0F63-4FD9-B9C9-78069CE8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CADAC-04EE-4742-8ED5-5B1D293B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MVP-ING THE FIRST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DD6E8-766E-4F0E-A810-81D7AB05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B29E6-30B2-4E43-8B9A-BB8C1793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BBB77-E17B-4C23-A210-3CE9E5AA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6DCBC-8007-4BA2-A689-8A5A93C7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The first MVP is LIWANAG — one buyer, one offer, one outcome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ED18F-AA2B-408F-96D3-DA692A41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14475"/>
            <a:ext cx="1943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CE846-5AFB-418F-926F-6D81AD94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RECOMMENDED FIRST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4C60B-B313-456D-B969-685C3C8B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28825"/>
            <a:ext cx="2428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Best-fit buyer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657D50-6900-4A91-9314-51DE0ABC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4838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Owner-occupied home · stable grid · roughly ₱8k–₱15k monthly bill · inside a named launch area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3A3E52-9E0E-4217-A372-F7296A05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428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Fixed offer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17454B-E96B-45EE-A235-C2789A7C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9975"/>
            <a:ext cx="4838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~2.3 kWp grid-tied system · purchased certified hardware · standardized BOM and scope · installed at a planning price of ₱99,500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1DEC41-8DB4-4836-B83C-6DBCF7EF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38675"/>
            <a:ext cx="2428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Customer outcome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09E187-094C-4876-8F81-62386025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4838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Reduce daytime grid purchases; show projected peso savings based on the homeowner’s real bill and usage pattern.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9DB1F9-A42B-490C-BA33-069F7E70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52575"/>
            <a:ext cx="607695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694d4cedea4fc9"/>
          <a:stretch xmlns:a="http://schemas.openxmlformats.org/drawingml/2006/main"/>
        </p:blipFill>
        <p:spPr>
          <a:xfrm xmlns:a="http://schemas.openxmlformats.org/drawingml/2006/main">
            <a:off x="6543675" y="1714500"/>
            <a:ext cx="4419600" cy="33147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E4D956-5C71-45ED-B352-6ED8ED6C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19725"/>
            <a:ext cx="60769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solidFill>
              <a:srgbClr val="FFF0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A2E437-019B-48BD-B3EA-971B3EFB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572125"/>
            <a:ext cx="561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Explicit exclusion: LIWANAG does not provide power during a brownout; anti-islanding shuts the system off.</a:t>
            </a:r>
          </a:p>
        </p:txBody>
      </p:sp>
    </p:spTree>
    <p:extLst>
      <p:ext uri="{BB962C8B-B14F-4D97-AF65-F5344CB8AC3E}">
        <p14:creationId xmlns:p14="http://schemas.microsoft.com/office/powerpoint/2010/main" val="13459177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5DC94B-DCB4-40F3-81FC-A4E54FA5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5A302-78B7-4AE7-B756-152DEF87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2C834-E524-4D4B-81D0-9A05AA27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COSTING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D4822-986B-47EF-86C9-55C34F73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AEA0E-08EF-4F4D-920F-1A2DDC58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30435-AB6A-4A11-8082-60B99F75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5234E-6752-4C4A-BE11-2E22D5FF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Costing starts with the margin ceiling, not supplier totals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A4E67-3B90-4477-AA21-AE8146B9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430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Strategic price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B714F-215D-4FCD-8374-714AF1F2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4668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76E36-150C-44A2-8C1B-D74FFDFB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430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Target margin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C5754-9A68-47EF-8BB2-26A0998E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4668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492CDC-DA65-4D17-8707-930C2210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5430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Maximum delivered cost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8215C-A92F-4BA5-A540-F6677045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668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55D78-F8D1-4A3D-8380-EC9F37A0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543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BOM + scope choices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36D644-D53F-49B6-9C32-897D683F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35623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A28C7-8500-493A-A762-F3800C2E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3105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₱99,500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B35336-2A0B-44B6-A279-ED00D55B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3105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Planning price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2E42B3-2830-4FCB-AA7B-71B8A41F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24275"/>
            <a:ext cx="3105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The market-facing constraint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63F85B-2036-48A4-9F36-D21B28DB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57400"/>
            <a:ext cx="35623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E1AD65-EE77-4FE9-BC74-7CF5DF6F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57450"/>
            <a:ext cx="3105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₱69,650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0054FC-3408-40CE-A9EF-E5F48832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286125"/>
            <a:ext cx="3105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Target cost ceiling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CEA133-5061-41CC-BC22-B2549EC6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724275"/>
            <a:ext cx="3105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At 30% target gross margin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096920-60F4-466F-AE5E-9514D396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57400"/>
            <a:ext cx="35623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8A5BA7-FB0F-4395-80F7-002214D1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3105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₱74,000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FFF424-1356-47FF-B1B8-AB7B8BA4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86125"/>
            <a:ext cx="3105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Expected cost today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AEAAF8-C0B4-4EB0-BF02-93B03CB7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24275"/>
            <a:ext cx="3105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Current Founder Lab default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B5BBE8-9C8B-48D5-ABB1-46A27486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52975"/>
            <a:ext cx="113919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1CCE78-BF4E-443E-815F-E686DC21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₱4,350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4700BB-8DAA-4772-A00D-DC7E0B2D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62525"/>
            <a:ext cx="6362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cost gap to close before a 30% gross-margin target is credible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A0EA0D-968D-42C7-9ACF-F317F062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14900"/>
            <a:ext cx="26479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Negotiate, simplify, or re-scope — do not hide the gap in the quote.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703149-FEEC-4284-A1DE-4C6D042C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62625"/>
            <a:ext cx="11391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Planning hypothesis: replace every cost with current supplier, freight, labor, permit, contingency, and warranty-reserve quotes before customer use.</a:t>
            </a:r>
          </a:p>
        </p:txBody>
      </p:sp>
    </p:spTree>
    <p:extLst>
      <p:ext uri="{BB962C8B-B14F-4D97-AF65-F5344CB8AC3E}">
        <p14:creationId xmlns:p14="http://schemas.microsoft.com/office/powerpoint/2010/main" val="76267335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AA6233-91F4-4C5E-8F1E-4EFD88B1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B48B4-B92E-4572-9C99-34A76968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297C5-1310-494B-A7D8-E5148127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PRICING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ED0AC-C3A6-4414-A489-CC08345E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0A418-3B91-45A5-9918-A204B456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10566-8689-4C50-87B5-63A09195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C7D20-C5D0-422A-AEB2-1F5056C5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Pricing is a market decision — then a design constraint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52441-3835-4678-9AC8-D63B68B3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28775"/>
            <a:ext cx="3562350" cy="388620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342C1-F44D-4620-9289-DCC86A8E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76425"/>
            <a:ext cx="3105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1. Find the corridor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2EDA4-719A-40DF-A68E-6898DD54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05075"/>
            <a:ext cx="31051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Anchor against what customers already pay or tolerate: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• keep paying Meralco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• genset / UPS plus running cost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• established installer at ₱150k+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• marketplace kit + freelance electrician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A4F03-F418-462C-9DA2-484F8B62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28775"/>
            <a:ext cx="3562350" cy="388620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C6780-BD50-4764-957B-73C4073F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76425"/>
            <a:ext cx="3105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2. Set the strategic price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D6909-D7BB-47AC-B0FB-43E63ABF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05075"/>
            <a:ext cx="31051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Use ₱99,500 as a test inside the ₱80k–₱100k mass corridor. Every price appears beside the outcome: projected monthly savings for LIWANAG.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Reason why we cost less: fixed package, standardized BOM, no showroom.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1B96D-DFCE-463C-91A6-37F4EAFA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28775"/>
            <a:ext cx="3562350" cy="388620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E80810-2486-4A52-AF2C-D316194F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76425"/>
            <a:ext cx="3105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3. Protect the signal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1B1B6D-87DF-4B28-8DD9-405F9C7C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05075"/>
            <a:ext cx="31051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Ask for a real commitment at the real price. Repeated stalls trigger a positioning review before a discount.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 front-end discount is not allowed until a back-end path is evidenced and the test is pre-registered.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C5065B-4FFF-4FF1-81A5-438725BC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3919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62B4F"/>
          </a:solidFill>
          <a:ln xmlns:a="http://schemas.openxmlformats.org/drawingml/2006/main" w="0">
            <a:solidFill>
              <a:srgbClr val="062B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26BB6-731E-4AA3-B998-A1C52D80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10934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Price first → target margin → maximum cost → package design. Cost-plus reverses the strategy.</a:t>
            </a:r>
          </a:p>
        </p:txBody>
      </p:sp>
    </p:spTree>
    <p:extLst>
      <p:ext uri="{BB962C8B-B14F-4D97-AF65-F5344CB8AC3E}">
        <p14:creationId xmlns:p14="http://schemas.microsoft.com/office/powerpoint/2010/main" val="1802469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267C7D-0770-4495-9CE3-3AB03460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6E1EE-F23D-4163-ABE7-ECF4B46C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EA931-7C0F-40A1-A38B-AE538BBC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POSITIONING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24FE3-150D-4257-9B32-038F8068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98840-A69D-462C-9AF8-5A3E1FED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C1876-B3EC-4398-AE2A-5FC00829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399EE-6E94-4402-9FC2-1040CADA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Positioning makes a lower price credible, not suspicious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7681E-71B2-4594-9029-59BD16B5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62B4F"/>
          </a:solidFill>
          <a:ln xmlns:a="http://schemas.openxmlformats.org/drawingml/2006/main" w="0">
            <a:solidFill>
              <a:srgbClr val="062B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0A9F1-160C-479B-8517-5F2D09AC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rPr>
              <a:t>FOR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D0FE8-BD1B-4CA9-AB52-5FEB1510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6687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homeowners in named areas with stable grid and roughly ₱8k–₱15k bills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49516-69DF-4D08-A658-36860071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rPr>
              <a:t>SOLAR CITY 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7FBAB-5E68-4E34-80D6-35045DBF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5740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fixed-price, installed home-solar package inside the ₱80k–₱100k window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50847-E698-4CDF-A07C-E8E6C01C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98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BECAUSE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EBADFE-8094-40EB-A2DE-873F968E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352675"/>
            <a:ext cx="98583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we standardize scope and BOM, remove showroom overhead, and document every milestone.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D676A6-4F9B-4867-81C9-6601E591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3524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The four real alternatives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A87D8F-3264-4930-A3F8-F46447F7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0375"/>
            <a:ext cx="546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What our position must resolve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C0CA93-8B37-43E6-B9C8-18B82AC4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38525"/>
            <a:ext cx="5467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4C584B-1FF8-421F-9555-96ED197E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5814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Do nothing / Meralco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C8F999-B6E6-4A89-9CAE-831B9DB0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3377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752F8-2995-46E0-95D7-DA8CCB9E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4330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11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Show a transparent bill-based outcome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3EFD04-20D8-41F9-A9A6-5A859C6D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67175"/>
            <a:ext cx="5467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A56939-2DDE-4B01-945B-883F0B0D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2100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Genset or UPS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B76FB9-9295-4CB5-83D5-BEC0BCC3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16242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E82B64-5960-4204-BB51-E937F6B0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17195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State clearly: LIWANAG solves bill pain, not backup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46D345-3480-4D1E-9E5A-4EEDB6A1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5467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49CC2F-C44F-44E6-9866-B787BEAE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387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Established installer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A11D03-634E-46D4-B8EF-9DE7D9D1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9107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86E6DB-55E3-4C27-ADB8-D20925F5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0060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Explain the fixed-package, no-showroom 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DFCCD6-B74A-4B9D-9F90-E1EA471E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24475"/>
            <a:ext cx="5467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48320C-70B5-4465-B811-71C0CECF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4673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DIY marketplace kit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4A941E-F0F6-44D5-8F12-FFB60255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1972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F39E06-4D1E-4DD8-9D72-2B715666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42925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Win on safety, permits, warranty, accountability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BABC2E-F38E-454D-9C8D-63A15879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38525"/>
            <a:ext cx="54673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ABE674-F44B-47C6-AEA0-97F749B0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861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CATEGORY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28B0CC-83EE-4B19-92F4-EC1FBAEF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24300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Fixed-price installed home solar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44B63B-1051-40FD-B69D-69C523AF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958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DIFFERENCE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7F3051-4E89-4EA5-B323-139C8BBF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33925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41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Clarity + standardization + local accountability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AAADF2-FE50-436A-8786-4377B26F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054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WHY NOW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7662D1-2EB3-4C14-A084-1B3C6772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435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59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Rising bills and scam fatigue — after the visitor understands the category.</a:t>
            </a:r>
          </a:p>
        </p:txBody>
      </p:sp>
    </p:spTree>
    <p:extLst>
      <p:ext uri="{BB962C8B-B14F-4D97-AF65-F5344CB8AC3E}">
        <p14:creationId xmlns:p14="http://schemas.microsoft.com/office/powerpoint/2010/main" val="77868134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8AEA69-A12B-401B-B81A-4BBAB94C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33004-C551-415E-AE72-F561A756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C7AE6-6F99-4433-A67D-2450BB16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BLUE OCEAN / ERRC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DC0BF-9611-434C-A17C-7B9C4F91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E4E2B-7DB4-4932-9CAD-3F046514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DD5EF-E7AC-473B-8F49-8A26F49E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0340E-BEEB-43A4-B883-2863BF37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Blue Ocean means changing the value curve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661E5-5E50-4957-9D5E-544D9DA2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581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solidFill>
              <a:srgbClr val="FFF0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76D315-F699-442C-AF72-2272C90E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022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ELIMINATE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074BC-E79B-4E68-ABD9-C0E3B429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81225"/>
            <a:ext cx="5124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Confusing menus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Hidden extras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Unverified savings claims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Spec-first selling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081E2-E2A1-4357-A2A9-A5296F40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71625"/>
            <a:ext cx="5581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C4F39-BE2C-4457-A761-91A8EC39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022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REDUCE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A3F32-C89E-4F7B-9BC7-B6AE663E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81225"/>
            <a:ext cx="5124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Custom engineering before qualification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Showroom overhead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Inventory breadth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Geographic sprawl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D67155-5D21-4695-9F3A-4B9EBE0E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5581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0C8ABB-C355-4CC6-A19F-48D97613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9572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RAISE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9DFE7C-36F4-408E-AAC9-D13CC645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6725"/>
            <a:ext cx="5124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Price and scope transparency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Documentation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Engineered safety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Local service accountability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677492-2F55-403D-B356-50BBF13C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67125"/>
            <a:ext cx="5581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EAF7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F32EC-F2D3-45C9-93A6-ACE80616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9572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CREATE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54F4A-753D-48E9-BE22-904E0360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76725"/>
            <a:ext cx="5124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Same-day bill / roof estimate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Fixed-scope package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Milestone updates</a:t>
            </a:r>
          </a:p>
          <a:p xmlns:a="http://schemas.openxmlformats.org/drawingml/2006/main">
            <a:pPr algn="l">
              <a:def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Explicit brownout disclosure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3C0D7D-420E-42E5-981C-FC1ACDD3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67375"/>
            <a:ext cx="113919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2B4F"/>
          </a:solidFill>
          <a:ln xmlns:a="http://schemas.openxmlformats.org/drawingml/2006/main" w="0">
            <a:solidFill>
              <a:srgbClr val="062B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2339F3-E26D-4583-B859-33BC2815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5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TABLE STAKES STAY: certified hardware · honored warranty · typhoon-rated mounting · permits · electrical safety</a:t>
            </a:r>
          </a:p>
        </p:txBody>
      </p:sp>
    </p:spTree>
    <p:extLst>
      <p:ext uri="{BB962C8B-B14F-4D97-AF65-F5344CB8AC3E}">
        <p14:creationId xmlns:p14="http://schemas.microsoft.com/office/powerpoint/2010/main" val="11366322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37FB13-9405-44CE-9A27-2B434C57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C9922-97E1-4952-9D44-D79DBF5E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8FF7E-89EB-46B7-BE95-885BA7EA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BRANDING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C135B-64C2-4A25-AF30-0274311F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9E2E4-BD1E-4E97-8D05-2446A50A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EA2C6-394F-4366-A716-B4B32A5E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F05D1-67DA-4F81-A967-6881E864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The brand is the promise we can consistently prove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CDF00-DEFF-4C10-9D5C-131204E4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952750" cy="40195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CCF0B-B188-4A53-8CAF-0723547F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419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COMPANY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dbd9b2017462b"/>
          <a:stretch xmlns:a="http://schemas.openxmlformats.org/drawingml/2006/main"/>
        </p:blipFill>
        <p:spPr>
          <a:xfrm xmlns:a="http://schemas.openxmlformats.org/drawingml/2006/main">
            <a:off x="647700" y="2245883"/>
            <a:ext cx="2457450" cy="346934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36E91-D225-4FB8-8362-61BFA2D3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2419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3067BF-DBC0-4DD1-85A8-370FF21A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419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CUSTOMER OFFER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190FC7-9D0D-426D-A41B-F8DF9B78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8075"/>
            <a:ext cx="2419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SOLAR CITY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35676-3BB4-4927-9992-AC7CD2F3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2419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PACKAGES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E6CDF5-64AE-4290-8C6B-00054F80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77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LIWANAG · ILAW</a:t>
            </a:r>
          </a:p>
          <a:p xmlns:a="http://schemas.openxmlformats.org/drawingml/2006/main">
            <a:pPr algn="ctr">
              <a:defRPr sz="14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SANDIGAN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A8EEB-7E1F-4295-9E55-5591E30C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562100"/>
            <a:ext cx="3810000" cy="40195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2FDE9F-A54D-4DF0-857C-6BA8EC4D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09750"/>
            <a:ext cx="3238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Four promises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314C66-DB78-49D2-AA8A-C1689EF2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52675"/>
            <a:ext cx="32385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01  Honest scope and numbers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02  Engineered safety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03  Local accountability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04  Clear progress from survey to energized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5B3B4-3E65-4E05-BF93-36515124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62100"/>
            <a:ext cx="3943350" cy="40195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solidFill>
              <a:srgbClr val="FFF0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1E9561-E0FE-4D08-B432-C38C5E51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333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Never claim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21A5B7-7F1F-4264-BCB8-B6320CBF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52675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• fabricated testimonials or install counts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• LIWANAG backup during brownouts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• savings without a bill-based estimate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• “all-in” while hiding exclusions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675DA3-8876-496F-9C81-B2C00A46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139190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C352EF-B219-4F2D-B4E1-62D1684A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1010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Package names translate jobs — LIWANAG: lower bills · ILAW: essential backup · SANDIGAN: hybrid resilience</a:t>
            </a:r>
          </a:p>
        </p:txBody>
      </p:sp>
    </p:spTree>
    <p:extLst>
      <p:ext uri="{BB962C8B-B14F-4D97-AF65-F5344CB8AC3E}">
        <p14:creationId xmlns:p14="http://schemas.microsoft.com/office/powerpoint/2010/main" val="16834350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34D074-D2D8-455F-894E-D72438A2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1EFE3-FD57-45F5-8217-9D8967F6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756D1-FDEB-4143-8CD0-A3DA9F31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MARKETING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AFA00-D513-4C1F-883E-42F75E34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BD198-5DBE-4089-9D17-3F1673C8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5EB43-911D-480A-BBB2-6F28CE1C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80F13-EBA6-4FCC-881C-35DDAECC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Marketing is a measured path to a deposit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BDA60D-AA92-46CC-A664-D0AC3482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Copy the proven channel mechanics; diverge on the promise. Instrument every handoff.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EF1CC-C617-48FB-B406-0570230A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695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80416-0FE0-4B24-8D2A-E8CFBA9D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1B469-D3E0-4E70-828B-BE2BF1CA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BC5F2C-57B5-4E66-B5B0-D0500C60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38375"/>
            <a:ext cx="200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7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AF36D0-1F3A-4514-8111-B8FF06F6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019300"/>
            <a:ext cx="1695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84123-607A-4DD7-87A1-4247D419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190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3002D-5B24-4392-B367-DB849502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4765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CALCULATOR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E3C50-E487-4CD6-ABFA-830A82C9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238375"/>
            <a:ext cx="200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7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80A3E8-D6E1-4627-BEA1-D27FEC1A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19300"/>
            <a:ext cx="1695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291987-D333-45EB-B744-50A14AE3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90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39A3E8-481D-4B59-8493-7D5B4121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765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LEAD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9E1463-B516-4FBC-88FD-AF81A1E7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38375"/>
            <a:ext cx="200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7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E99971-529A-4943-8320-D5FCE647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19300"/>
            <a:ext cx="1695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46CB6E-7066-4ADB-914B-6226468E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90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6F97BD-A1F0-43D2-BD7D-368C41C9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765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REPLY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7CAF26-12E0-4069-A743-1653C040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238375"/>
            <a:ext cx="200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7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35AF5B-F561-40DE-B88B-00F3B53C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19300"/>
            <a:ext cx="1695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181659-EF09-4825-BCF5-3AE5E020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1E550C-7ACF-49F7-B9A8-A68D3950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765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SURVEY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F11006-8BFE-47F6-9735-D334E7EE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38375"/>
            <a:ext cx="200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7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8CED93-BCA9-4928-A735-A570B1BC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019300"/>
            <a:ext cx="1695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BEEE2D-EB76-4031-944C-FB2E7295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1907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D739A1-3B9D-4AEC-8C48-DFD9C2CC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4765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DEPOSIT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FF66AF-E1ED-4581-845D-56C30BDE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48025"/>
            <a:ext cx="54673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8E6607-915F-4DA3-96CE-C428680D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95675"/>
            <a:ext cx="501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Start where trust is visible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4F1469-CFBB-42FC-94AC-56C67F16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24325"/>
            <a:ext cx="5010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• three named subdivisions / barangays and their exact Facebook groups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• direct founder selling and Messenger follow-up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• HOA / barangay demo events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• photographed handovers and neighbor referrals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123698-938C-4065-A634-72F3D7EA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48025"/>
            <a:ext cx="54673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622F4F-AE76-41E2-8120-7A703E18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95675"/>
            <a:ext cx="501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Run bounded channel tests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A9CC49-4086-4B37-8C69-589ACA5B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24325"/>
            <a:ext cx="5010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Max 3 concurrent tests · ≤₱12k · ≤3 weeks · pre-registered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No ad peso until lead delivery, UTM attribution, and stage events work. Do not scale until at least 2 leads pay a real deposit at the real price.</a:t>
            </a:r>
          </a:p>
        </p:txBody>
      </p:sp>
    </p:spTree>
    <p:extLst>
      <p:ext uri="{BB962C8B-B14F-4D97-AF65-F5344CB8AC3E}">
        <p14:creationId xmlns:p14="http://schemas.microsoft.com/office/powerpoint/2010/main" val="208124101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0ACFEB-54EB-41DA-95BA-0E7E0D81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CCBD2-16C4-4A92-AED3-86C1A446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9C543-C0D5-45D5-B7FF-90EC91EA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PRODUCT–MARKET 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E3B6F-C8C8-4A0C-8C0A-8F12872A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E6E16-E7F0-4596-B69B-AA60FC8F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BECBA-B92E-46AD-AD36-204D3BEB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1E686-7B92-41CD-9727-9EE02ED9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68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Product–market fit is repeated paid behavior with viable economics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86F6A-CCD0-457F-98D1-8FCD866F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We do not claim PMF yet. We look for a pattern, not a feeling.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EADCF-E560-4D90-83E9-9B1AD3A4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356235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5D084-17F1-48B0-9C13-00D6BF94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3105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STAGE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A623AD-650D-478D-A52F-D280676A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3105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ABE33-D8C8-4B8C-85D1-4D5C4E4E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3105150" cy="1895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Founders hear past-specific homeowner stories, learn the real alternatives, and map the same recurring pain in a narrow segment.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E49414-95B8-4BCA-864A-F52391D0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24050"/>
            <a:ext cx="356235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E34119-EDD1-4960-854F-515F7E3E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33600"/>
            <a:ext cx="3105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STAGE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D0860-AF50-438A-88DC-EDDD5219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00300"/>
            <a:ext cx="3105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SIGNAL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63D8A3-0A6A-42BF-B78B-0DE454F0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81325"/>
            <a:ext cx="3105150" cy="1895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Best-fit buyers book surveys and pay deposits at the real ₱99,500 test price. The target cost is reachable without hiding scope or safety.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C9F4AD-0F6F-4500-8BA6-C6FA36DE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24050"/>
            <a:ext cx="356235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EAF7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D25513-8915-4B12-95EE-C15D17FA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33600"/>
            <a:ext cx="3105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STAGE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4312C6-5956-475D-A26D-780D9115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0300"/>
            <a:ext cx="3105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PATTERN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CD03AA-AA93-4556-A6DD-C7196A31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81325"/>
            <a:ext cx="3105150" cy="1895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Sales, installs, and referrals repeat without heroic customization. Buyers describe the same value, and the channel economics remain healthy.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576144-9023-4FCC-AC80-B40A71D4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43525"/>
            <a:ext cx="1139190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solidFill>
              <a:srgbClr val="FFF0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F6EA85-7037-4A1E-95CB-15B46F7F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NOT PMF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06CE88-C719-4308-B1BB-D80D1BF5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86400"/>
            <a:ext cx="9810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comments · compliments · cheap leads · one customized sale · a beautiful deck or app</a:t>
            </a:r>
          </a:p>
        </p:txBody>
      </p:sp>
    </p:spTree>
    <p:extLst>
      <p:ext uri="{BB962C8B-B14F-4D97-AF65-F5344CB8AC3E}">
        <p14:creationId xmlns:p14="http://schemas.microsoft.com/office/powerpoint/2010/main" val="58557042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38DD59-3D4C-473E-B5FC-8EA5F39C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2572A-C9DE-4CB7-9282-7D2E6C3D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49BCF-9466-4BE0-9692-445DCCAB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CREATING CULTURE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BB831-B203-48E3-91A1-77F2428F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FF7F9-27A9-42F3-A28B-853282E9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A062E-7B36-4C9D-AB02-99817769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BAE5AF-A756-4C76-8AF5-0B169ADF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9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Friendship creates trust; explicit rules protect it under pressure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FB8AA-25F9-4BD3-85E9-ED17EF8F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55816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0413E-877A-4EA5-96BC-0A5B0B61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504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CUSTOMER TRUTH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E355C-9F6F-4D25-A93D-BA1A4088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048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Ask about the past. Count commitments. Write interviews within 24 hours.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774C4-F531-4C58-B326-E60A75E5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52575"/>
            <a:ext cx="55816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solidFill>
              <a:srgbClr val="FFF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DD66C-476B-48C9-AD99-DE7F4FCA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90700"/>
            <a:ext cx="504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SAFETY + HONESTY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61CB65-708B-4779-A6AC-C7996701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5048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No fabricated proof, hidden scope, legal shortcuts, or backup claims for LIWANAG.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678991-EBB4-40D4-9697-8D0D4DB7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57575"/>
            <a:ext cx="55816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75A654-3A70-49B5-B5A5-571457A4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504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SPEED WITH GATES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63E2D9-C4F5-49AB-BB4E-74C336DC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5048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Fire reversible tests quickly. Stop at safety, legal, cash, and evidence gates.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82DB6B-7A29-4D6B-84EC-BA887BA4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57575"/>
            <a:ext cx="55816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EAF7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A0E21E-4FD7-43D5-9A50-87B371A4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95700"/>
            <a:ext cx="504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OWNERSHIP WITHOUT EGO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095A3A-B88C-4FFF-9C9F-F526318E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5048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Named pilot, public T5T, blunt postmortems, and company-first decisions.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596A60-2476-4F57-BF4F-6B1CBC34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24475"/>
            <a:ext cx="11391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62B4F"/>
          </a:solidFill>
          <a:ln xmlns:a="http://schemas.openxmlformats.org/drawingml/2006/main" w="0">
            <a:solidFill>
              <a:srgbClr val="062B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581BA8-5789-45C5-B907-B10C6295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rPr>
              <a:t>WEEKLY CADENCE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755C73-BD55-4FF7-83DE-D6172981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57825"/>
            <a:ext cx="9239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55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≥1 customer-facing action + ≥1 homeowner story · Friday T5T + traction/product hours · Analyze → Ask → Act on one metric</a:t>
            </a:r>
          </a:p>
        </p:txBody>
      </p:sp>
    </p:spTree>
    <p:extLst>
      <p:ext uri="{BB962C8B-B14F-4D97-AF65-F5344CB8AC3E}">
        <p14:creationId xmlns:p14="http://schemas.microsoft.com/office/powerpoint/2010/main" val="159293695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31570F-A645-41C0-BC94-ABA5DF0D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6F316-1C97-4690-B0F1-A0FF84F6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A8"/>
          </a:solidFill>
          <a:ln xmlns:a="http://schemas.openxmlformats.org/drawingml/2006/main" w="0">
            <a:solidFill>
              <a:srgbClr val="0B5E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B737E-E6C2-47E3-A5CB-44382B11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FOUNDER ACTION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9C795-A91A-41BE-A9CC-359BAED5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9"/>
          </a:solidFill>
          <a:ln xmlns:a="http://schemas.openxmlformats.org/drawingml/2006/main" w="0">
            <a:solidFill>
              <a:srgbClr val="C7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4FD4C-6C4D-44D2-8C8B-D3B97A95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5E7B0-0C24-4136-A9FD-8CAD91E5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9EA2D-5D43-408C-80CB-A31F49DE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3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1320"/>
                </a:solidFill>
                <a:latin typeface="Helvetica Neue"/>
                <a:ea typeface="Helvetica Neue"/>
                <a:cs typeface="Helvetica Neue"/>
              </a:rPr>
              <a:t>The next 30 days should produce evidence, not more documents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EA09F-31FC-47FD-BA6D-54E81648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2657475" cy="3124200"/>
          </a:xfrm>
          <a:prstGeom xmlns:a="http://schemas.openxmlformats.org/drawingml/2006/main" prst="roundRect">
            <a:avLst>
              <a:gd name="adj" fmla="val 286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3BE69-422B-4894-98E8-F38F8BD0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238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WEEK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07716-DDB3-4658-AF3A-88B316B3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ALIGN + INSTRUMENT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4A29E-3B74-4A46-B8FB-82326852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22383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Choose launch area and owners. Verify lead delivery, UTM, and funnel events. Open the operating ledger.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BC4CD-8030-4586-8C85-7FC9D485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924175"/>
            <a:ext cx="19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8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375E7F-F632-45C6-BD6B-6408BB9C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714500"/>
            <a:ext cx="2657475" cy="3124200"/>
          </a:xfrm>
          <a:prstGeom xmlns:a="http://schemas.openxmlformats.org/drawingml/2006/main" prst="roundRect">
            <a:avLst>
              <a:gd name="adj" fmla="val 286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2A8ECD-E686-4C88-BF14-543DA8E1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952625"/>
            <a:ext cx="2238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WEEK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9FBAB4-C8C1-4774-8482-67654FFF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8125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DISCOVER + SOURCE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0FDCB0-7031-4B79-AB61-EBB8FCEB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162300"/>
            <a:ext cx="22383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Record three past-specific homeowner stories. Replace planning costs with current supplier and installer quotes.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F766BC-FC90-4587-9820-50766270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24175"/>
            <a:ext cx="19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8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C5178-4FBD-4447-B257-AC342966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657475" cy="3124200"/>
          </a:xfrm>
          <a:prstGeom xmlns:a="http://schemas.openxmlformats.org/drawingml/2006/main" prst="roundRect">
            <a:avLst>
              <a:gd name="adj" fmla="val 28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90BAFF-945D-489F-8E1A-DB0F8336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238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WEEK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4BADAD-07EB-423B-A433-65A0951F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FIRE THE OFFER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567431-C6AB-41D5-B286-9A5B9828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22383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Pre-register one channel test. Put LIWANAG at the real price in front of real homeowners. Book surveys.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A7C44E-5D27-43F1-882A-1ED74395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24175"/>
            <a:ext cx="19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8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7D0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6D0F86-F1EE-41C6-8BB6-9109B137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714500"/>
            <a:ext cx="2657475" cy="3124200"/>
          </a:xfrm>
          <a:prstGeom xmlns:a="http://schemas.openxmlformats.org/drawingml/2006/main" prst="roundRect">
            <a:avLst>
              <a:gd name="adj" fmla="val 286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C4271C-70BD-41F7-A251-8BC6C353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952625"/>
            <a:ext cx="2238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WEEK 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B7F3A3-5A78-466A-A613-49A5AACE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38125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LEARN + AIM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5A9EEB-27E2-45A3-BE0C-192E4438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62300"/>
            <a:ext cx="22383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Ask lost leads why. Report stage conversions and deposits. Change exactly one message, scope, or channel variable.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219F77-E1E3-44DE-B86E-4ECDA1AC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53025"/>
            <a:ext cx="1139190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0E9DF7-C96B-4369-8976-9D0335A0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THREE DECISIONS TO LEAVE THIS MEETING WITH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143D33-D541-4B82-9B92-33C151C5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3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1  Launch subdivision / group     2  Target gross-margin floor     3  Owners: customer · offer/pricing · install/technical</a:t>
            </a:r>
          </a:p>
        </p:txBody>
      </p:sp>
    </p:spTree>
    <p:extLst>
      <p:ext uri="{BB962C8B-B14F-4D97-AF65-F5344CB8AC3E}">
        <p14:creationId xmlns:p14="http://schemas.microsoft.com/office/powerpoint/2010/main" val="131610838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7C5A7B-69C9-4209-9582-231C63E4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4F"/>
          </a:solidFill>
          <a:ln xmlns:a="http://schemas.openxmlformats.org/drawingml/2006/main" w="0">
            <a:solidFill>
              <a:srgbClr val="062B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94A14-1176-4D37-A940-CFC20324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D4F82-12E9-4B5E-8554-859A803C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B814C-5267-4F9E-9516-DFB964C8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D"/>
          </a:solidFill>
          <a:ln xmlns:a="http://schemas.openxmlformats.org/drawingml/2006/main" w="0">
            <a:solidFill>
              <a:srgbClr val="31516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854EF-E852-451B-A66E-10169B61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7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7D3"/>
                </a:solidFill>
                <a:latin typeface="Helvetica Neue"/>
                <a:ea typeface="Helvetica Neue"/>
                <a:cs typeface="Helvetica Neue"/>
              </a:rPr>
              <a:t>MACC SYSTEMS &amp; ENGINEERING INC. · SOLAR CITY ·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085C4-1DE2-4F68-A480-87E9E8CA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48425"/>
            <a:ext cx="504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8C7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7D3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B3D57-62CB-467F-A581-7F6D81CA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6B7E9"/>
                </a:solidFill>
                <a:latin typeface="Helvetica Neue"/>
                <a:ea typeface="Helvetica Neue"/>
                <a:cs typeface="Helvetica Neue"/>
              </a:rPr>
              <a:t>MACC SYSTEMS &amp; ENGINEERING INC.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0BF93-26CA-49CB-A95A-401DA137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94297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Four founders. One test.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Put it in front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of homeowners.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6EEB8-A09D-47BF-93ED-30A360EE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52975"/>
            <a:ext cx="676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6E77A-3B08-4301-BC84-0C70DB71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695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4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9E4EC"/>
                </a:solidFill>
                <a:latin typeface="Helvetica Neue"/>
                <a:ea typeface="Helvetica Neue"/>
                <a:cs typeface="Helvetica Neue"/>
              </a:rPr>
              <a:t>The next proof is not another page. It is a booked survey, a paid deposit, and a safe install at viable margin.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B8CE5-9D58-4417-9F5D-DADAC243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33525"/>
            <a:ext cx="2819400" cy="28194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E7C4E-1C50-4CF9-A9EF-D2CE7D16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57375"/>
            <a:ext cx="21526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200" b="1">
                <a:solidFill>
                  <a:srgbClr val="062B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3A138-D4D3-466E-9BA8-90C484A5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2152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B5EA8"/>
                </a:solidFill>
                <a:latin typeface="Helvetica Neue"/>
                <a:ea typeface="Helvetica Neue"/>
                <a:cs typeface="Helvetica Neue"/>
              </a:rPr>
              <a:t>PAID INSTALLS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253EC-5890-4C23-81D2-598255B3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14725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BY 9 OCT 2026</a:t>
            </a:r>
          </a:p>
        </p:txBody>
      </p:sp>
    </p:spTree>
    <p:extLst>
      <p:ext uri="{BB962C8B-B14F-4D97-AF65-F5344CB8AC3E}">
        <p14:creationId xmlns:p14="http://schemas.microsoft.com/office/powerpoint/2010/main" val="10620227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2026-07-16T12:15:57.6930000Z</dcterms:created>
  <dcterms:modified xsi:type="dcterms:W3CDTF">2026-07-16T12:15:57.6930000Z</dcterms:modified>
</coreProperties>
</file>